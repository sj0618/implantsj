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A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2A2E"/>
                </a:solidFill>
                <a:latin typeface="Arial"/>
              </a:rPr>
              <a:t>13개 분류 · macro-F1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 (cosine, 13개 분류)</c:v>
                </c:pt>
              </c:strCache>
            </c:strRef>
          </c:tx>
          <c:spPr>
            <a:solidFill>
              <a:srgbClr val="9BC0C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E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C0C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6B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4B5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M1 학습 없음</c:v>
                  </c:pt>
                  <c:pt idx="1">
                    <c:v>M2 head 학습</c:v>
                  </c:pt>
                  <c:pt idx="2">
                    <c:v>M4 full FT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0.3313</c:v>
                </c:pt>
                <c:pt idx="1">
                  <c:v>0.6563</c:v>
                </c:pt>
                <c:pt idx="2">
                  <c:v>0.7884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500" u="none">
                  <a:solidFill>
                    <a:srgbClr val="0E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8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0F4B5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DINOv2  ·  METRIC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임플란트 제조사 분류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12724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기반 분류 · 미학습 브랜드 일반화 · 거부(OOD) 실험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977640"/>
            <a:ext cx="2926080" cy="0"/>
          </a:xfrm>
          <a:prstGeom prst="line">
            <a:avLst/>
          </a:prstGeom>
          <a:noFill/>
          <a:ln w="15240">
            <a:solidFill>
              <a:srgbClr val="3E6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206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제조사 / 1,304장  ·  DINOv2 ViT-B/14  ·  2026.08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1B6B7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00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1056" y="16550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91056" y="202082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왜 재는가 — 7조건 · 22셀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32888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0F4B5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328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91056" y="25877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구성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91056" y="295351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제조사 1,304장 · open / 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465576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1B6B7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655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91056" y="3520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91056" y="388620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효과 · 거리 · 프로토타입 vs softmax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98264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0F4B5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3982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91056" y="44531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분석을 위한 이후 실험 계획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91056" y="48188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불가를 판정 가능으로 — LOO · 거부 · 진단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1B6B73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3309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91056" y="538581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91056" y="57515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일반화와 거부의 맞교환 · hubness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846320" cy="484632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계획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왜 재는가 — 조건 7개 × 시나리오 × 거리 2종 = 22셀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  실험 전체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질문과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0E2A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8132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DINOv2 임베딩이 임플란트 제조사 분류에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 만한가 — 그리고 어떻게 학습해야 하는가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21408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임플란트 제조사 13종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3227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21408" y="3227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bounding box 기준 crop X-ray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7581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21408" y="37581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DINOv2 ViT-B/14 · CLS 토큰 768d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42885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방식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21408" y="42885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제조사별 평균 프로토타입 + 최근접 거리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818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21408" y="4818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cosine 두 종류 모두 측정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349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지표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21408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(Top-1 아님 — 불균형 53:1)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1600200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D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7114032" y="170992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 crop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14032" y="2011680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1,304장 / 13개 제조사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386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642616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1B6B73"/>
          </a:solidFill>
          <a:ln/>
        </p:spPr>
      </p:sp>
      <p:sp>
        <p:nvSpPr>
          <p:cNvPr id="23" name="Text 21"/>
          <p:cNvSpPr/>
          <p:nvPr/>
        </p:nvSpPr>
        <p:spPr>
          <a:xfrm>
            <a:off x="7114032" y="275234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DINOv2 ViT-B/14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305409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768차원 임베딩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685032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DF4F4"/>
          </a:solidFill>
          <a:ln/>
        </p:spPr>
      </p:sp>
      <p:sp>
        <p:nvSpPr>
          <p:cNvPr id="27" name="Text 25"/>
          <p:cNvSpPr/>
          <p:nvPr/>
        </p:nvSpPr>
        <p:spPr>
          <a:xfrm>
            <a:off x="7114032" y="379476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14032" y="4096512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제조사별 train 평균 벡터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471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4727448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DF4F4"/>
          </a:solidFill>
          <a:ln/>
        </p:spPr>
      </p:sp>
      <p:sp>
        <p:nvSpPr>
          <p:cNvPr id="31" name="Text 29"/>
          <p:cNvSpPr/>
          <p:nvPr/>
        </p:nvSpPr>
        <p:spPr>
          <a:xfrm>
            <a:off x="7114032" y="483717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최근접 거리 판정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14032" y="513892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cosine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목표 — X-ray 임플란트 crop 에서 제조사를 맞히고, 모르는 제조사는 모른다고 답한다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 실험 조건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7개 — 학습 방식 × 학습 범위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7839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2011680"/>
                <a:gridCol w="4657039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범위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시나리오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— 학습 없음 (frozen)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 분류 / 9개 분류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 + linear head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  13개 분류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 + linear head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  9개  +  E3  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fine-tuning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  13개 분류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fine-tuning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  9개  +  E3  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FT + SupCon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  13개 분류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FT + SupCon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  9개  +  E3  13개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6177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4617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/ E2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학습한 제조사를 그대로 분류 — 주 평가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9개로 학습한 모델이 미학습 4개까지 포함해 13개 분류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27064" y="46177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DF4F4"/>
          </a:solidFill>
          <a:ln/>
        </p:spPr>
      </p:sp>
      <p:sp>
        <p:nvSpPr>
          <p:cNvPr id="8" name="Text 5"/>
          <p:cNvSpPr/>
          <p:nvPr/>
        </p:nvSpPr>
        <p:spPr>
          <a:xfrm>
            <a:off x="6464808" y="4617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22셀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조건 × 시나리오 × 거리(L2·cosine)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선택은 val macro-F1 기준 · seed 42 고정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방식(없음 → head → full FT → +SupCon)과 학습 범위(13개 / 9개)를 교차시켜 원인을 분리한다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 검증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판정하려는가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764792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17007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학습이 도움되나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26464" y="20299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위에 linear head 만 얹는 값어치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3347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825496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26464" y="27614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을 푸는 게 가치 있나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26464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1,304장 소량에서 full FT 가 손해인가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886200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86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38221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SupCon 이 돕나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26464" y="41513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full FT 끼리 손실만 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75488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946904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946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26464" y="48828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거리가 최선인가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26464" y="52120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vs cosine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7064" y="157276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8232" y="1764792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17007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learning 을 쓸 이유가 있나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86600" y="20299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vs softmax head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27064" y="263347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2825496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27614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안 한 제조사도 잡히나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가 원천적으로 불가능한 구간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27064" y="36941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3886200"/>
            <a:ext cx="512064" cy="512064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3886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86600" y="38221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범위를 좁히면 손해인가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86600" y="41513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4개를 뺀 대가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27064" y="475488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0E2A2E"/>
          </a:solidFill>
          <a:ln/>
        </p:spPr>
      </p:sp>
      <p:sp>
        <p:nvSpPr>
          <p:cNvPr id="40" name="Text 38"/>
          <p:cNvSpPr/>
          <p:nvPr/>
        </p:nvSpPr>
        <p:spPr>
          <a:xfrm>
            <a:off x="6483096" y="4754880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Q1~Q5 는 목적 A(아는 제조사 분류), Q6~Q7 은 확장성 검증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판정은 모두 macro-F1 의 Δ 로 한다 — 잡음 규모를 넘는 차이만 결론으로 채택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846320" cy="484632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구성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제조사 1,304장 · stratified 70 / 15 / 15 · seed 42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  데이터셋 분포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제조사별 장수와 split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6675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1051560"/>
                <a:gridCol w="960120"/>
                <a:gridCol w="960120"/>
                <a:gridCol w="9601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제조사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nucleoss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dionavi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D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26464"/>
            <a:ext cx="3557016" cy="1572768"/>
          </a:xfrm>
          <a:prstGeom prst="roundRect">
            <a:avLst>
              <a:gd name="adj" fmla="val 4651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7735824" y="160934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 불균형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35824" y="1883664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: 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35824" y="2523744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adin 266장 : nobel 5장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대표 지표를 macro-F1 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145536"/>
            <a:ext cx="3557016" cy="1572768"/>
          </a:xfrm>
          <a:prstGeom prst="roundRect">
            <a:avLst>
              <a:gd name="adj" fmla="val 4651"/>
            </a:avLst>
          </a:prstGeom>
          <a:solidFill>
            <a:srgbClr val="EDF4F4"/>
          </a:solidFill>
          <a:ln/>
        </p:spPr>
      </p:sp>
      <p:sp>
        <p:nvSpPr>
          <p:cNvPr id="10" name="Text 7"/>
          <p:cNvSpPr/>
          <p:nvPr/>
        </p:nvSpPr>
        <p:spPr>
          <a:xfrm>
            <a:off x="7735824" y="332841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closed 제조사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35824" y="3602736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735824" y="4242816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경계 N ≥ 40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는 조건에 따라 학습 제외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4864608"/>
            <a:ext cx="3557016" cy="804672"/>
          </a:xfrm>
          <a:prstGeom prst="roundRect">
            <a:avLst>
              <a:gd name="adj" fmla="val 9091"/>
            </a:avLst>
          </a:prstGeom>
          <a:solidFill>
            <a:srgbClr val="EDF4F4"/>
          </a:solidFill>
          <a:ln/>
        </p:spPr>
      </p:sp>
      <p:sp>
        <p:nvSpPr>
          <p:cNvPr id="14" name="Text 11"/>
          <p:cNvSpPr/>
          <p:nvPr/>
        </p:nvSpPr>
        <p:spPr>
          <a:xfrm>
            <a:off x="7735824" y="4864608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종횡비 0.20 ~ 4.23  ·  21배 범위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왜곡 224 리사이즈의 대가가 이미지마다 다르다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문서에서 open = 데이터가 많은 제조사(항상 학습 포함), closed = 데이터가 적은 제조사(조건부 제외)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846320" cy="484632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22셀 정량 비교 — 학습 효과 · 거리 · 프로토타입 vs softmax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  학습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 없이 수렴 — best val macro-F1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0440" cy="1536192"/>
          </a:xfrm>
          <a:prstGeom prst="roundRect">
            <a:avLst>
              <a:gd name="adj" fmla="val 4762"/>
            </a:avLst>
          </a:prstGeom>
          <a:solidFill>
            <a:srgbClr val="EDF4F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 SupCon / 9개 학습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epoch 19 · 전 조건 최고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4256" y="1444752"/>
            <a:ext cx="3520440" cy="1536192"/>
          </a:xfrm>
          <a:prstGeom prst="roundRect">
            <a:avLst>
              <a:gd name="adj" fmla="val 4762"/>
            </a:avLst>
          </a:prstGeom>
          <a:solidFill>
            <a:srgbClr val="EDF4F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2763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full FT / 13개 학습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0195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0" y="25420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epoch 22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444752"/>
            <a:ext cx="3520440" cy="1536192"/>
          </a:xfrm>
          <a:prstGeom prst="roundRect">
            <a:avLst>
              <a:gd name="adj" fmla="val 4762"/>
            </a:avLst>
          </a:prstGeom>
          <a:solidFill>
            <a:srgbClr val="ED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162763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FT 의 과적합 격차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39328" y="190195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음수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39328" y="25420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&lt; train CE 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1,304장인데도 과적합 없음</a:t>
            </a:r>
            <a:endParaRPr lang="en-US" sz="1150" dirty="0"/>
          </a:p>
        </p:txBody>
      </p:sp>
      <p:pic>
        <p:nvPicPr>
          <p:cNvPr id="16" name="Image 0" descr="/Users/gim-yesong/Desktop/implant/metric learning/result_figures/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127248"/>
            <a:ext cx="10424160" cy="2880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/ val macro-F1 / 과적합 격차 (val loss − train CE)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  Q1 · Q2  학습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학습이 임베딩을 크게 바꾼다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481328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481328"/>
            <a:ext cx="4251960" cy="1993392"/>
          </a:xfrm>
          <a:prstGeom prst="roundRect">
            <a:avLst>
              <a:gd name="adj" fmla="val 3670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7598664" y="16459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head 학습이 도움되나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98664" y="1956816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+0.325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598664" y="2542032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backbone 위에 head 만 얹어도 0.331 → 0.656. 가장 싼 개입이 가장 큰 이득.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3694176"/>
            <a:ext cx="4251960" cy="1993392"/>
          </a:xfrm>
          <a:prstGeom prst="roundRect">
            <a:avLst>
              <a:gd name="adj" fmla="val 3670"/>
            </a:avLst>
          </a:prstGeom>
          <a:solidFill>
            <a:srgbClr val="EDF4F4"/>
          </a:solidFill>
          <a:ln/>
        </p:spPr>
      </p:sp>
      <p:sp>
        <p:nvSpPr>
          <p:cNvPr id="10" name="Text 7"/>
          <p:cNvSpPr/>
          <p:nvPr/>
        </p:nvSpPr>
        <p:spPr>
          <a:xfrm>
            <a:off x="7598664" y="385876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backbone 을 푸는 게 가치 있나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98664" y="4169664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98664" y="475488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1,304장 소량인데도 과적합 없이 추가 이득. "DINOv2 는 frozen 이 강하다"는 이 데이터에서 성립하지 않는다.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긍정 · Q2 긍정 — 학습은 하는 게 맞고, backbone 도 푸는 게 맞다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3-3  Q3  SupCon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SupCon 은 학습 범위에 따라 갈린다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600200"/>
                <a:gridCol w="1600200"/>
                <a:gridCol w="1828800"/>
                <a:gridCol w="1639519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SupCon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→ M6   13개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→ M6   13개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0.7884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0.7661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→ M7  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0.8804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+0.0230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긍정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→ M7  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0.8804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+0.0230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긍정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703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변형 조건 — balanced sampler 를 꺼도 회복되지 않는다</a:t>
            </a:r>
            <a:endParaRPr lang="en-US" sz="15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33088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2377440"/>
                <a:gridCol w="2651760"/>
                <a:gridCol w="1639519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 SupCon 없음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M6-nobal  sampler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→ M6-nobal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−0.0598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→ M6-nobal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0.7884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0.7349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53949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학습에는 nobel(train 3장)이 있어 balanced sampler 가 3장을 에폭당 약 70회 뽑는다 — 과표집 가설을 확인하려 sampler 만 끈 조건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학습에서는 손해(−0.03), 9개 학습에서는 이득(+0.023) — sampler 과표집 탓이 아니다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 Q5  metric learning 을 쓸 이유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vs softmax — 거의 동률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2560320"/>
                <a:gridCol w="1828800"/>
                <a:gridCol w="2005279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시나리오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prototype (최선 거리)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softmax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(proto − softmax)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  Head / 13개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 Head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 FullFT / 13개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 FullFT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0.8804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+0.0037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  SupCon / 13개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0.7661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+0.0185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 SupCon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4526280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A(아는 제조사 분류)에서는 이점 없음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차이가 대부분 ±0.01 이내. 학습한 제조사를 분류하는 게 목표라면 softmax 를 쓰면 된다.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27064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2A2E"/>
          </a:solidFill>
          <a:ln/>
        </p:spPr>
      </p:sp>
      <p:sp>
        <p:nvSpPr>
          <p:cNvPr id="8" name="Text 5"/>
          <p:cNvSpPr/>
          <p:nvPr/>
        </p:nvSpPr>
        <p:spPr>
          <a:xfrm>
            <a:off x="6464808" y="4526280"/>
            <a:ext cx="4919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learning 의 가치는 다른 데 있다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브랜드 분류·거부 — softmax 로는 계산 자체가 불가능한 구간(출력이 9개뿐)에만 임베딩이 가능하다.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F4B52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거리 — L2 vs cosine 은 전 셀에서 |Δ| ≤ 0.04, 승자 없음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 종합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과제별 최고 성능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0E2A2E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75564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 분류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10312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0.7945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59536" y="3127248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 ·  Top-1  87.7%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3520440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full FT / 13개 학습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3840480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0.3269  →  +0.4676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572768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0F4B52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5564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분류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9672" y="210312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0.9034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519672" y="3127248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 ·  Top-1  88.5%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9672" y="3520440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 SupCon / 9개 학습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3840480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0.4543  →  +0.4490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5720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head 학습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4572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+0.325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34256" y="4572000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5720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backbone 해제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28816" y="4572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+0.138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01584" y="4572000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8284464" y="45720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SupCon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96144" y="4572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193792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93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거리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61488" y="51937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승자 없음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4256" y="5193792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29" name="Text 27"/>
          <p:cNvSpPr/>
          <p:nvPr/>
        </p:nvSpPr>
        <p:spPr>
          <a:xfrm>
            <a:off x="4517136" y="5193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 프로토타입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28816" y="51937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이점 없음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01584" y="5193792"/>
            <a:ext cx="3520440" cy="512064"/>
          </a:xfrm>
          <a:prstGeom prst="roundRect">
            <a:avLst>
              <a:gd name="adj" fmla="val 10714"/>
            </a:avLst>
          </a:prstGeom>
          <a:solidFill>
            <a:srgbClr val="ED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5193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 학습 범위 축소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296144" y="51937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−0.182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 정성 결과  t-SNE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전후 임베딩 공간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1560" y="14813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학습 없음  ·  macro-F1 0.331</a:t>
            </a:r>
            <a:endParaRPr lang="en-US" sz="1400" dirty="0"/>
          </a:p>
        </p:txBody>
      </p:sp>
      <p:pic>
        <p:nvPicPr>
          <p:cNvPr id="5" name="Image 0" descr="/Users/gim-yesong/Desktop/implant/metric learning/result_figures/tsne_M1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10512"/>
            <a:ext cx="4160520" cy="3456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76872" y="14813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full FT / 13개 학습  ·  0.788</a:t>
            </a:r>
            <a:endParaRPr lang="en-US" sz="1400" dirty="0"/>
          </a:p>
        </p:txBody>
      </p:sp>
      <p:pic>
        <p:nvPicPr>
          <p:cNvPr id="7" name="Image 1" descr="/Users/gim-yesong/Desktop/implant/metric learning/result_figures/tsne_M4_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810512"/>
            <a:ext cx="4160520" cy="3456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3291840"/>
            <a:ext cx="1005840" cy="502920"/>
          </a:xfrm>
          <a:prstGeom prst="rightArrow">
            <a:avLst/>
          </a:prstGeom>
          <a:solidFill>
            <a:srgbClr val="1B6B73"/>
          </a:solidFill>
          <a:ln/>
        </p:spPr>
      </p:sp>
      <p:sp>
        <p:nvSpPr>
          <p:cNvPr id="9" name="Shape 5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F4B52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t-SNE 는 거리를 보존하지 않는다 — 정량 지표를 뒷받침하는 용도로만 읽을 것 (△ 검은 테두리가 closed)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 클래스별 성능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 제조사가 macro-F1 을 끌어내린다</a:t>
            </a:r>
            <a:endParaRPr lang="en-US" sz="3000" dirty="0"/>
          </a:p>
        </p:txBody>
      </p:sp>
      <p:pic>
        <p:nvPicPr>
          <p:cNvPr id="4" name="Image 0" descr="/Users/gim-yesong/Desktop/implant/metric learning/result_figures/per_class_f1_co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9601200" cy="4288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32720" y="1645920"/>
            <a:ext cx="1307592" cy="3931920"/>
          </a:xfrm>
          <a:prstGeom prst="roundRect">
            <a:avLst>
              <a:gd name="adj" fmla="val 5594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10460736" y="1783080"/>
            <a:ext cx="1051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nucleoss 34
mis 32
dionavi 15
nobel 5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nobel 은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1장 —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이 0 또는 1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로만 나온다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수 순 정렬 · 빨간 라벨이 closed — F1 하락이 소수 제조사에 집중된다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3-8  E3  미학습 브랜드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브랜드 결론은 낼 수 없었다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 (9개로 학습 → 13개 분류)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13개 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미학습 4개 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 Head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0.6098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 FullFT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0.6127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 SupCon / 9개 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657600"/>
            <a:ext cx="6583680" cy="1874520"/>
          </a:xfrm>
          <a:prstGeom prst="roundRect">
            <a:avLst>
              <a:gd name="adj" fmla="val 3902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657600"/>
            <a:ext cx="607161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"파인튜닝이 미학습 브랜드를 망친다" 로 읽히지만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결론을 낼 수 없었다.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코드 · 같은 seed 로 재학습했을 때 이 지표가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0.100 → 0.175 (+75%) 로 흔들렸기 때문이다.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155448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0E2A2E"/>
          </a:solidFill>
          <a:ln/>
        </p:spPr>
      </p:sp>
      <p:sp>
        <p:nvSpPr>
          <p:cNvPr id="8" name="Text 5"/>
          <p:cNvSpPr/>
          <p:nvPr/>
        </p:nvSpPr>
        <p:spPr>
          <a:xfrm>
            <a:off x="7699248" y="1783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99248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13장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7699248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표본이 이것뿐이었다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99248" y="35204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nucleoss 5  ·  mis 5  ·  dionavi 2  ·  nobel 1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4개는 총 86장인데,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클래스와 똑같이 70:15:15 로 나눠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73장을 프로토타입 재료로만 쓰고 있었다.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C4553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실험 전에 물어야 할 것 — 지금 데이터로 더 캐낼 수 있는 근거가 무엇인가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846320" cy="484632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분석을 위한 이후 실험 계획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없이, 캐시된 임베딩만으로 판정 가능하게 만든다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 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바꿔야 판정이 가능해지는가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1170432"/>
          </a:xfrm>
          <a:prstGeom prst="roundRect">
            <a:avLst>
              <a:gd name="adj" fmla="val 6250"/>
            </a:avLst>
          </a:prstGeom>
          <a:solidFill>
            <a:srgbClr val="ED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47088"/>
            <a:ext cx="1005840" cy="621792"/>
          </a:xfrm>
          <a:prstGeom prst="roundRect">
            <a:avLst>
              <a:gd name="adj" fmla="val 8824"/>
            </a:avLst>
          </a:prstGeom>
          <a:solidFill>
            <a:srgbClr val="C4553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470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48256" y="1572768"/>
            <a:ext cx="932047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브랜드 지표의 재실행 변동이 ±0.094 — 효과 크기(0.1)와 같은 규모라 결론 불가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11057839" cy="1170432"/>
          </a:xfrm>
          <a:prstGeom prst="roundRect">
            <a:avLst>
              <a:gd name="adj" fmla="val 6250"/>
            </a:avLst>
          </a:prstGeom>
          <a:solidFill>
            <a:srgbClr val="EDF4F4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3218688"/>
            <a:ext cx="1005840" cy="621792"/>
          </a:xfrm>
          <a:prstGeom prst="roundRect">
            <a:avLst>
              <a:gd name="adj" fmla="val 8824"/>
            </a:avLst>
          </a:prstGeom>
          <a:solidFill>
            <a:srgbClr val="1B6B73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186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944368"/>
            <a:ext cx="932047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M3 · M5 · M7 은 closed 4개를 학습에 전혀 쓰지 않았다 — 모델에게 closed 의 train / val / test 는 전부 똑같이 처음 보는 그림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315968"/>
            <a:ext cx="11057839" cy="1170432"/>
          </a:xfrm>
          <a:prstGeom prst="roundRect">
            <a:avLst>
              <a:gd name="adj" fmla="val 6250"/>
            </a:avLst>
          </a:prstGeom>
          <a:solidFill>
            <a:srgbClr val="ED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590288"/>
            <a:ext cx="1005840" cy="621792"/>
          </a:xfrm>
          <a:prstGeom prst="roundRect">
            <a:avLst>
              <a:gd name="adj" fmla="val 8824"/>
            </a:avLst>
          </a:prstGeom>
          <a:solidFill>
            <a:srgbClr val="2A8F8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902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48256" y="4315968"/>
            <a:ext cx="932047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자신만 빼고 프로토타입을 만들면(Leave-One-Out) 86장 전부를 평가에 쓸 수 있다 — 재학습도 재추출도 불필요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68756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0E2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87568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extract.py 를 만들 때 "학습 범위와 무관하게 항상 13개 클래스 전부 추출"해 둔 것이 결정적이었다 — closed 86장의 벡터가 이미 .npz 에 있었다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4-2  실험 ①  미학습 브랜드 재평가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— 재학습 없이 표본 6.6배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E2A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17904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nucleoss 1번 평가  →  나머지 33장의 평균과 비교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nucleoss 2번 평가  →  나머지 33장의 평균과 비교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⋮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34장 전부 평가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표본이 정확히 한 번 평가되므로 표본 효율이 최대이고,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자신이 기준 통계에 들어가지 않아 누수도 없다.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loo_eval.py  ·  LOO 산식 (sum − x)/(n−1) 이 직접 계산과 오차 0.0 으로 일치함을 확인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17904"/>
          <a:ext cx="5349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3716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미학습 평가 표본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86장  (6.6배)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프로토타입 재료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33장  (더 정확)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재학습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불필요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실행 시간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1분 미만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41148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BEDE9"/>
          </a:solidFill>
          <a:ln/>
        </p:spPr>
      </p:sp>
      <p:sp>
        <p:nvSpPr>
          <p:cNvPr id="10" name="Text 7"/>
          <p:cNvSpPr/>
          <p:nvPr/>
        </p:nvSpPr>
        <p:spPr>
          <a:xfrm>
            <a:off x="6501384" y="4114800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9개에는 적용할 수 없다 — 모델이 학습에 썼으므로 train / val 이미지는 외운 것이다. open 은 그대로 test split 182장만 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대표값은 recall — 평가 집합 구성비가 바뀌면 precision 은 변하지만 recall 은 변하지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4-3  실험 ②  거부 (OOD)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모르는 브랜드를 모른다고 답할 수 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EDF4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① 은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"대표 벡터를 쥐어주면 자기 것을 찾아가나"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를 물었다(13지선다).  실전에서 먼저 필요한 건 다른 질문이다 —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"애초에 아는 9개가 아니라는 걸 아나."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B6B7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6148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test  182장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아는 9개 제조사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606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C455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6148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전체  86장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67588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프로토타입이 필요 없으므로 fold 도 불필요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2606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0E2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2761488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39328" y="310896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최근접 프로토타입까지의 거리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328" y="367588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멀수록 unknown 으로 판정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97496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좋은 방향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한 장과 known 한 장을 뽑았을 때 unknown 의 점수가 더 높을 확률 — 임계값 없이 순위만 본다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 0.5 = 무작위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FPR@95%TPR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모르는 것의 95% 를 걸러내려 할 때 아는 것을 잘못 버리는 비율 — 실제 운영값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C4553C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로는 계산 자체가 불가능한 구간 — 출력이 9개뿐이라 "모름"을 뽑을 수 없다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4-4  실험 ③  진단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믿기 전에 확인할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1225296"/>
          </a:xfrm>
          <a:prstGeom prst="roundRect">
            <a:avLst>
              <a:gd name="adj" fmla="val 5970"/>
            </a:avLst>
          </a:prstGeom>
          <a:solidFill>
            <a:srgbClr val="ED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01952"/>
            <a:ext cx="566928" cy="566928"/>
          </a:xfrm>
          <a:prstGeom prst="ellipse">
            <a:avLst/>
          </a:prstGeom>
          <a:solidFill>
            <a:srgbClr val="0F4B5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792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근접 중복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215798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원본 X-ray 에서 나온 crop 이 갈라져 있으면 성능이 부풀려진다. 학습 편향이 없는 사전학습(M1) 임베딩의 코사인 유사도로 확인.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990088"/>
            <a:ext cx="11057839" cy="1225296"/>
          </a:xfrm>
          <a:prstGeom prst="roundRect">
            <a:avLst>
              <a:gd name="adj" fmla="val 5970"/>
            </a:avLst>
          </a:prstGeom>
          <a:solidFill>
            <a:srgbClr val="0E2A2E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3319272"/>
            <a:ext cx="566928" cy="566928"/>
          </a:xfrm>
          <a:prstGeom prst="ellipse">
            <a:avLst/>
          </a:prstGeom>
          <a:solidFill>
            <a:srgbClr val="1B6B7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32095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2768" y="357530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고차원에서는 일부 점이 비정상적으로 많은 것의 최근접이 된다. 허브가 생기면 거리가 "비슷해서"가 아니라 "중앙이라서" 짧아진다.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407408"/>
            <a:ext cx="11057839" cy="1225296"/>
          </a:xfrm>
          <a:prstGeom prst="roundRect">
            <a:avLst>
              <a:gd name="adj" fmla="val 5970"/>
            </a:avLst>
          </a:prstGeom>
          <a:solidFill>
            <a:srgbClr val="ED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736592"/>
            <a:ext cx="566928" cy="566928"/>
          </a:xfrm>
          <a:prstGeom prst="ellipse">
            <a:avLst/>
          </a:prstGeom>
          <a:solidFill>
            <a:srgbClr val="0F4B5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36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46268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 점수 대안 · 보정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72768" y="499262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기반과 확신도 기반은 실패 모드가 다르다. min_dist · margin · dist_ent · head_msp / raw · proto_std · sample_std · csls 를 전부 비교.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캐시된 임베딩만 사용 · 재학습 없음 · 총 실행 시간 수 분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846320" cy="4846320"/>
          </a:xfrm>
          <a:prstGeom prst="ellipse">
            <a:avLst/>
          </a:prstGeom>
          <a:solidFill>
            <a:srgbClr val="1438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일반화와 거부의 맞교환 · hubness · 점수 산식만으로 +0.32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  실험 ①  미학습 브랜드 분류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파인튜닝은 미학습 브랜드 분류를 해친다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68580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463040"/>
                <a:gridCol w="1051560"/>
                <a:gridCol w="8686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(13장)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 (86장) 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 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표본오차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  Base (학습 없음)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 Head (backbone 동결)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 FullFT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M5b  FullFT (재학습)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 SupCon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A8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60520"/>
            <a:ext cx="6858000" cy="1463040"/>
          </a:xfrm>
          <a:prstGeom prst="roundRect">
            <a:avLst>
              <a:gd name="adj" fmla="val 5000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160520"/>
            <a:ext cx="6345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(backbone 동결) 0.464  →  M5 (backbone 학습) 0.302
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하락폭 0.162 는 표본오차(±0.06)의 2.7배, 재학습 변동(0.011)의 15배.
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학습을 아예 안 한 M1(0.430)이 파인튜닝한 M5(0.302)보다 낫다.</a:t>
            </a:r>
            <a:endParaRPr lang="en-US" sz="1400" dirty="0"/>
          </a:p>
        </p:txBody>
      </p:sp>
      <p:pic>
        <p:nvPicPr>
          <p:cNvPr id="7" name="Image 0" descr="/Users/gim-yesong/Desktop/implant/metric learning/result_figures/loo_unseen_compare_co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17904"/>
            <a:ext cx="3931920" cy="24963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80960" y="4160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E2A2E"/>
          </a:solidFill>
          <a:ln/>
        </p:spPr>
      </p:sp>
      <p:sp>
        <p:nvSpPr>
          <p:cNvPr id="9" name="Text 5"/>
          <p:cNvSpPr/>
          <p:nvPr/>
        </p:nvSpPr>
        <p:spPr>
          <a:xfrm>
            <a:off x="7936992" y="4160520"/>
            <a:ext cx="3419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 — M5b
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재실행 변동 0.094 → 0.011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8배 감소. LOO 지표는 판정 기준으로 쓸 수 있다.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C4553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측정을 못 한 것이지 효과가 없던 게 아니었다 — 표본을 6.6배로 늘리자 결론이 드러났다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  클래스별 recall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손해는 표본이 적은 브랜드에 집중된다</a:t>
            </a:r>
            <a:endParaRPr lang="en-US" sz="3000" dirty="0"/>
          </a:p>
        </p:txBody>
      </p:sp>
      <p:pic>
        <p:nvPicPr>
          <p:cNvPr id="4" name="Image 0" descr="/Users/gim-yesong/Desktop/implant/metric learning/result_figures/loo_per_class_recall_co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6172200" cy="3941064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517904"/>
          <a:ext cx="46177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77240"/>
                <a:gridCol w="777240"/>
                <a:gridCol w="777240"/>
                <a:gridCol w="777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제조사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nucleoss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dionavi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995160" y="3794760"/>
            <a:ext cx="4617720" cy="1664208"/>
          </a:xfrm>
          <a:prstGeom prst="roundRect">
            <a:avLst>
              <a:gd name="adj" fmla="val 4396"/>
            </a:avLst>
          </a:prstGeom>
          <a:solidFill>
            <a:srgbClr val="EDF4F4"/>
          </a:solidFill>
          <a:ln/>
        </p:spPr>
      </p:sp>
      <p:sp>
        <p:nvSpPr>
          <p:cNvPr id="7" name="Text 3"/>
          <p:cNvSpPr/>
          <p:nvPr/>
        </p:nvSpPr>
        <p:spPr>
          <a:xfrm>
            <a:off x="7251192" y="3794760"/>
            <a:ext cx="41056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nucleoss(34장) · mis(32장)는 거의 안 변하는데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dionavi(15장) 0.600 → 0.133,  nobel(5장) → 0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파인튜닝이 임베딩 공간을 학습한 9개 위주로 재배치하면서 원래 표현이 약했던 소수 브랜드가 먼저 밀려난다.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F4B52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클래스별로는 재학습 변동이 여전히 크다 — 4개 묶음의 평균만 안정적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5-3  실험 ②  거부 (OOD)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 능력은 정반대로 좋아진다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6720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0876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(cosine)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(L2)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FPR@95%TPR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  Base (학습 없음)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 Head (backbone 동결)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 FullFT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M5b  FullFT (재학습)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 SupCon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17904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0E2A2E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517904"/>
            <a:ext cx="35570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순서가 정확히 뒤집힌다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  M3 &gt; M1 &gt; M7 &gt; M5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F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   M5 &gt; M7 &gt; M3 &gt; M1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학습한 9개를 각자 프로토타입 주위로 강하게 응집시키니, 어디에도 속하지 않는 것이 자연히 멀리 남는다.</a:t>
            </a:r>
            <a:endParaRPr lang="en-US" sz="1400" dirty="0"/>
          </a:p>
        </p:txBody>
      </p:sp>
      <p:pic>
        <p:nvPicPr>
          <p:cNvPr id="7" name="Image 0" descr="/Users/gim-yesong/Desktop/implant/metric learning/result_figures/reject_score_dist_co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0"/>
            <a:ext cx="11057839" cy="1627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 점수 분포 — 파란 known 이 0 근처에 몰리고 빨간 unknown 이 넓게 퍼질수록 AUROC 가 높다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43800" y="3090672"/>
            <a:ext cx="9144" cy="9144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5-4  분류 vs 거부  맞교환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모델이 둘 다 잘하지는 못한다</a:t>
            </a:r>
            <a:endParaRPr lang="en-US" sz="3000" dirty="0"/>
          </a:p>
        </p:txBody>
      </p:sp>
      <p:pic>
        <p:nvPicPr>
          <p:cNvPr id="4" name="Image 0" descr="/Users/gim-yesong/Desktop/implant/metric learning/result_figures/tradeoff_co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49377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55448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EDF4F4"/>
          </a:solidFill>
          <a:ln/>
        </p:spPr>
      </p:sp>
      <p:sp>
        <p:nvSpPr>
          <p:cNvPr id="6" name="Text 3"/>
          <p:cNvSpPr/>
          <p:nvPr/>
        </p:nvSpPr>
        <p:spPr>
          <a:xfrm>
            <a:off x="6821424" y="1700784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→ M3   가벼운 학습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21424" y="2029968"/>
            <a:ext cx="4553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축이 함께 좋아진다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+0.034  ·  거부 +0.379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0" y="292608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EDF4F4"/>
          </a:solidFill>
          <a:ln/>
        </p:spPr>
      </p:sp>
      <p:sp>
        <p:nvSpPr>
          <p:cNvPr id="9" name="Text 6"/>
          <p:cNvSpPr/>
          <p:nvPr/>
        </p:nvSpPr>
        <p:spPr>
          <a:xfrm>
            <a:off x="6821424" y="3072384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→ M5   backbone 해제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21424" y="3401568"/>
            <a:ext cx="4553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여기서만 진짜 맞교환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−0.162  ·  거부 +0.085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42976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0E2A2E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4297680"/>
            <a:ext cx="4517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파레토 경계는 M3 와 M5b 둘뿐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은 M3 에게 두 축 모두 밀린다 — "학습하지 마라"는 결론은 나오지 않는다. 선택은 M3(분류 우선)와 M5b(거부 우선) 사이다.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C4553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"모른다는 걸 아는 능력"과 "그게 뭔지 맞히는 능력"은 별개이고, 함께 좋아지지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5-5  실험 ③  진단  hubness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사전학습 임베딩의 거리는 역방향으로 작동한다</a:t>
            </a:r>
            <a:endParaRPr lang="en-US" sz="3000" dirty="0"/>
          </a:p>
        </p:txBody>
      </p:sp>
      <p:pic>
        <p:nvPicPr>
          <p:cNvPr id="4" name="Image 0" descr="/Users/gim-yesong/Desktop/implant/metric learning/result_figures/tsne_unknown_M1_M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76656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26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t-SNE 에 미학습 86장(검은 X) 오버레이 — M1 은 공간 중앙에 몰려 섞이고, M5 는 색 군집 바깥에 따로 자리 잡는다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81328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 편중도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편중도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3310128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0E2A2E"/>
          </a:solidFill>
          <a:ln/>
        </p:spPr>
      </p:sp>
      <p:sp>
        <p:nvSpPr>
          <p:cNvPr id="8" name="Text 4"/>
          <p:cNvSpPr/>
          <p:nvPr/>
        </p:nvSpPr>
        <p:spPr>
          <a:xfrm>
            <a:off x="7845552" y="3310128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0.394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이하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에서만 unknown 편중도(2.72)가 known(2.03)보다 크다. bilim 프로토타입 하나가 미학습 86장 중 26장(30%)을 빨아들인다.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F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파인튜닝하면(M5) 1.78 &lt; 1.98 로 정상화 — hubness 가설 지지.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C4553C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이미지가 공간 중앙에 몰려 모든 프로토타입에 고르게 가까워지므로 거리의 절대값이 오염된다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  실험 ③  진단  hubness 보정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산식만 바꿔 +0.324 회복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691640"/>
                <a:gridCol w="1828800"/>
                <a:gridCol w="1554480"/>
                <a:gridCol w="223387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proto_std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sample_std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  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5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sample_std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 Head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sample_std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 FullFT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 SupCon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A8F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977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(cosine)  ·  sample_std = 샘플별 9개 거리 안에서 표준화  ·  proto_std = 프로토타입별 z-score  ·  csls = 양쪽 국소 밀도 차감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437083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EDF4F4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1713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학습이 적을수록 보정 효과가 크다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6384" y="4846320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+0.324, M3 +0.050. M1 은 무작위 이하(0.394)에서 실용 범위(0.718)로 올라온다.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437083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EDF4F4"/>
          </a:solidFill>
          <a:ln/>
        </p:spPr>
      </p:sp>
      <p:sp>
        <p:nvSpPr>
          <p:cNvPr id="10" name="Text 7"/>
          <p:cNvSpPr/>
          <p:nvPr/>
        </p:nvSpPr>
        <p:spPr>
          <a:xfrm>
            <a:off x="4553712" y="451713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 조건에는 보정이 해롭다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53712" y="4846320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M7 −0.07. 이미 hubness 가 없는 공평한 거리를 다시 표준화하면 유효 신호까지 깎인다.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01584" y="437083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EDF4F4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451713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proto_std 는 전 조건 실패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321040" y="4846320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0.445~0.515. 문제의 본질이 프로토타입이 아니라 샘플이 놓인 위치임을 보여준다.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587044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E2A2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87044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재학습도, 데이터 추가도 없이 점수 산식만 바꿔 M1 을 0.394 → 0.718 로 되살렸다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  종합 판단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목적에 따라 다른 모델을 고른다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EDF4F4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72768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아는 브랜드 분류 정확도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64608" y="1746504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0F4B52"/>
          </a:solidFill>
          <a:ln/>
        </p:spPr>
      </p:sp>
      <p:sp>
        <p:nvSpPr>
          <p:cNvPr id="7" name="Text 5"/>
          <p:cNvSpPr/>
          <p:nvPr/>
        </p:nvSpPr>
        <p:spPr>
          <a:xfrm>
            <a:off x="4864608" y="17465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13개 전부 학습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36408" y="157276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87.7%  ·  macro-F1 0.795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EDF4F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06040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브랜드를 소수 샘플로 추가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64608" y="2779776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1B6B73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27797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 + L2 거리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36408" y="260604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recall 0.562 로 최고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39312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ED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63931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모르는 브랜드 걸러내기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64608" y="3813048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1B6B73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38130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M5b  + raw 점수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36408" y="363931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0.871  ·  FPR@95 0.50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672584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ED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672584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없이 거부만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64608" y="4846320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6A8085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4846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+ sample_std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36408" y="467258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0.718  —  학습 0회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742432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0E2A2E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5742432"/>
            <a:ext cx="110578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모델이 셋 다 잘하지는 못한다 — 지금 데이터에서는 그렇다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 마무리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다음 실험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B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 수준 미달 — 최고인 M5b 도 FPR@95 = 0.50. 모르는 것의 95% 를 잡으려면 아는 것의 절반을 버려야 한다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944368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443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미학습 브랜드가 4종뿐 — "파인튜닝이 일반화를 해친다"가 이 4종에서만 확인됐다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3877056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38770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nobel(5장)은 어떤 방법으로도 recall 0 — 데이터를 더 구하는 것 외에 방법이 없다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809744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48097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왜곡 리사이즈 · 단일 데이터 출처 · GT bbox 기준 crop (end-to-end 성능은 이보다 낮다)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실험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4B5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19933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결합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95160" y="22860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조건마다 최선이 다르다는 건 두 점수가 다른 정보를 담는다는 뜻. 목표는 FPR@95 를 0.50 → 0.2 대로. 재학습 불필요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44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4B5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926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노름 분포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5160" y="32186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에서만 L2 ≫ cosine(+0.142)인 이유 확인. 재학습 불필요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877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4B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3858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13label_crop_final 재실험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4151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화질 좋은 1,012장 버전. closed 4개를 고정해야 비교 성립. 약 30분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8097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4B5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47914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자체를 바꾸기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95160" y="50840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 448 · patch 토큰 평균 · 정준 정렬. 유일하게 재학습 필요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임플란트 제조사 분류 — DINOv2 Metric Learning</dc:title>
  <dc:subject>PptxGenJS Presentation</dc:subject>
  <dc:creator>implant metric learning</dc:creator>
  <cp:lastModifiedBy>implant metric learning</cp:lastModifiedBy>
  <cp:revision>1</cp:revision>
  <dcterms:created xsi:type="dcterms:W3CDTF">2026-08-06T06:36:55Z</dcterms:created>
  <dcterms:modified xsi:type="dcterms:W3CDTF">2026-08-06T06:36:55Z</dcterms:modified>
</cp:coreProperties>
</file>