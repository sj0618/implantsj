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3DFCB6-4BF0-4DC1-8351-DE66E80F73FF}">
  <a:tblStyle styleId="{C73DFCB6-4BF0-4DC1-8351-DE66E80F73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678c54725_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678c54725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678c54725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678c54725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98b881b6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98b881b6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78c54725_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78c54725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661112a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661112a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737ac4d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6737ac4d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988d523a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988d523a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98b881b6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98b881b6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88d523a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988d523a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66a5997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66a5997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988d523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988d523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678c54725_3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678c54725_3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678c54725_3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678c54725_3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678c54725_3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678c54725_3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678c54725_3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f678c54725_3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678c54725_3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678c54725_3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678c54725_3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678c54725_3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67c37ab6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67c37ab6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678c54725_3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678c54725_3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67c37ab6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f67c37ab6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67c37ab6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f67c37ab6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67c37ab6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f67c37ab6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67c37ab6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f67c37ab6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67c37ab6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f67c37ab6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67c37ab6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f67c37ab6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67c37ab61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f67c37ab6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67c37ab6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f67c37ab6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678c54725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f678c54725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678c54725_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f678c54725_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678c54725_5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f678c54725_5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678c54725_5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f678c54725_5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678c54725_6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f678c54725_6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98c72e647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f98c72e647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98c72e647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f98c72e647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678c54725_6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f678c54725_6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678c54725_5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f678c54725_5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f678c54725_5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f678c54725_5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678c54725_5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f678c54725_5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98c72e647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f98c72e647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98c72e647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f98c72e647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98c72e647_1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f98c72e647_1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f98c72e647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f98c72e647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98c72e647_1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f98c72e647_1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f98c72e647_1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f98c72e647_1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9.png"/><Relationship Id="rId4" Type="http://schemas.openxmlformats.org/officeDocument/2006/relationships/image" Target="../media/image28.png"/><Relationship Id="rId5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7.png"/><Relationship Id="rId4" Type="http://schemas.openxmlformats.org/officeDocument/2006/relationships/image" Target="../media/image21.png"/><Relationship Id="rId5" Type="http://schemas.openxmlformats.org/officeDocument/2006/relationships/image" Target="../media/image43.png"/><Relationship Id="rId6" Type="http://schemas.openxmlformats.org/officeDocument/2006/relationships/image" Target="../media/image4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Relationship Id="rId4" Type="http://schemas.openxmlformats.org/officeDocument/2006/relationships/image" Target="../media/image3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9.png"/><Relationship Id="rId4" Type="http://schemas.openxmlformats.org/officeDocument/2006/relationships/image" Target="../media/image4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3.png"/><Relationship Id="rId4" Type="http://schemas.openxmlformats.org/officeDocument/2006/relationships/image" Target="../media/image29.png"/><Relationship Id="rId5" Type="http://schemas.openxmlformats.org/officeDocument/2006/relationships/image" Target="../media/image3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1.png"/><Relationship Id="rId4" Type="http://schemas.openxmlformats.org/officeDocument/2006/relationships/image" Target="../media/image45.png"/><Relationship Id="rId5" Type="http://schemas.openxmlformats.org/officeDocument/2006/relationships/image" Target="../media/image5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implant 8/5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목차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1.Dataset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2. VIT&amp; metric learning - </a:t>
            </a:r>
            <a:r>
              <a:rPr lang="ko"/>
              <a:t>윤서준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3. segmentation+VIT -배나영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4. Grounding Dino -김예송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1.Dataset (</a:t>
            </a:r>
            <a:r>
              <a:rPr lang="ko"/>
              <a:t>앞으로 모든 실험의 기준)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03600" y="1062400"/>
            <a:ext cx="8520600" cy="38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ko">
                <a:solidFill>
                  <a:schemeClr val="dk1"/>
                </a:solidFill>
              </a:rPr>
              <a:t>11label dataset</a:t>
            </a:r>
            <a:r>
              <a:rPr lang="ko"/>
              <a:t> (11label_crop_final_8_1_1)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443">
                <a:solidFill>
                  <a:schemeClr val="dk1"/>
                </a:solidFill>
              </a:rPr>
              <a:t>가공과정</a:t>
            </a:r>
            <a:endParaRPr b="1" sz="1443">
              <a:solidFill>
                <a:schemeClr val="dk1"/>
              </a:solidFill>
            </a:endParaRPr>
          </a:p>
          <a:p>
            <a:pPr indent="-300158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ko" sz="1326" u="sng">
                <a:solidFill>
                  <a:schemeClr val="dk1"/>
                </a:solidFill>
              </a:rPr>
              <a:t>데이터셋 품질 문제 </a:t>
            </a:r>
            <a:r>
              <a:rPr lang="ko" sz="1326">
                <a:solidFill>
                  <a:schemeClr val="dk1"/>
                </a:solidFill>
              </a:rPr>
              <a:t>-&gt; 가로, 세로 중 하나라도 픽셀이 80 이하인 데이터는 삭제	</a:t>
            </a:r>
            <a:endParaRPr sz="1326">
              <a:solidFill>
                <a:schemeClr val="dk1"/>
              </a:solidFill>
            </a:endParaRPr>
          </a:p>
          <a:p>
            <a:pPr indent="-30015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ko" sz="1326">
                <a:solidFill>
                  <a:schemeClr val="dk1"/>
                </a:solidFill>
              </a:rPr>
              <a:t>이미지가 뭉개져 나사선의 형태가 구분불가한 사진들 </a:t>
            </a:r>
            <a:endParaRPr sz="1326">
              <a:solidFill>
                <a:schemeClr val="dk1"/>
              </a:solidFill>
            </a:endParaRPr>
          </a:p>
          <a:p>
            <a:pPr indent="-30015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ko" sz="1326">
                <a:solidFill>
                  <a:schemeClr val="dk1"/>
                </a:solidFill>
              </a:rPr>
              <a:t>오히려 모델이 잘못된 특징을 학습할 가능성 O</a:t>
            </a:r>
            <a:endParaRPr sz="1326">
              <a:solidFill>
                <a:schemeClr val="dk1"/>
              </a:solidFill>
            </a:endParaRPr>
          </a:p>
          <a:p>
            <a:pPr indent="-30015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ko" sz="1326">
                <a:solidFill>
                  <a:schemeClr val="dk1"/>
                </a:solidFill>
              </a:rPr>
              <a:t>이미지 수가 10개 이하인, dionavi, nobel은 제외시킴 </a:t>
            </a:r>
            <a:endParaRPr sz="1326">
              <a:solidFill>
                <a:schemeClr val="dk1"/>
              </a:solidFill>
            </a:endParaRPr>
          </a:p>
          <a:p>
            <a:pPr indent="-30015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ko" sz="1326" u="sng">
                <a:solidFill>
                  <a:schemeClr val="dk1"/>
                </a:solidFill>
              </a:rPr>
              <a:t>중복데이터 검열 </a:t>
            </a:r>
            <a:endParaRPr sz="1326" u="sng">
              <a:solidFill>
                <a:schemeClr val="dk1"/>
              </a:solidFill>
            </a:endParaRPr>
          </a:p>
          <a:p>
            <a:pPr indent="-30015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ko" sz="1326">
                <a:solidFill>
                  <a:schemeClr val="dk1"/>
                </a:solidFill>
              </a:rPr>
              <a:t>grounding dino+ 수작업 검열을 통해 </a:t>
            </a:r>
            <a:r>
              <a:rPr lang="ko" sz="1326" u="sng">
                <a:solidFill>
                  <a:schemeClr val="dk1"/>
                </a:solidFill>
              </a:rPr>
              <a:t>크롭된 이미지</a:t>
            </a:r>
            <a:r>
              <a:rPr lang="ko" sz="1326">
                <a:solidFill>
                  <a:schemeClr val="dk1"/>
                </a:solidFill>
              </a:rPr>
              <a:t>로 저장</a:t>
            </a:r>
            <a:endParaRPr sz="132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300" y="3672625"/>
            <a:ext cx="1209565" cy="79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7023" y="3514313"/>
            <a:ext cx="698600" cy="1264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35250" y="1502000"/>
            <a:ext cx="3388951" cy="3123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AI hub </a:t>
            </a:r>
            <a:r>
              <a:rPr lang="ko"/>
              <a:t>내부 42 FT (현재 최고성능) 모델의 임베딩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000" y="1260913"/>
            <a:ext cx="3725074" cy="284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1200" y="1205775"/>
            <a:ext cx="3725074" cy="290428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672225" y="4277750"/>
            <a:ext cx="29742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Macro-F1: 91.06%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4960175" y="4298125"/>
            <a:ext cx="2118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Macro F1 : 41.55%</a:t>
            </a:r>
            <a:br>
              <a:rPr b="1" lang="ko" sz="1100">
                <a:solidFill>
                  <a:schemeClr val="dk1"/>
                </a:solidFill>
              </a:rPr>
            </a:br>
            <a:r>
              <a:rPr b="1" lang="ko" sz="1100">
                <a:solidFill>
                  <a:schemeClr val="dk1"/>
                </a:solidFill>
              </a:rPr>
              <a:t>(gt -mean , cos)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1. Dataset (그 외 사용 데이터셋 목록)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6" name="Google Shape;86;p17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{C73DFCB6-4BF0-4DC1-8351-DE66E80F73FF}</a:tableStyleId>
              </a:tblPr>
              <a:tblGrid>
                <a:gridCol w="2872950"/>
                <a:gridCol w="4951900"/>
              </a:tblGrid>
              <a:tr h="433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FULL_7label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수정(패딩,크롭)하지 않은 데이터 그대로 사용 , 7개 모델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33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FULL_Bego_Bicon_ITI_3label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수정(패딩,크롭)하지 않은 데이터 그대로 사용 3개 모델, ITI , Bego,Bicon : Bego에 데이터 대부분이 분포되어 있음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GT_data_42label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연세대 측에서 제공해주신 3D 촬영 사진(실제로는 (27/42)개 뿐)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implant_yolo26_1</a:t>
                      </a:r>
                      <a:r>
                        <a:rPr lang="ko"/>
                        <a:t>2</a:t>
                      </a:r>
                      <a:r>
                        <a:rPr lang="ko"/>
                        <a:t>label_cropped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이번에 새로 추가한 데이터(중복제거 , 크롭 시행) 총 1</a:t>
                      </a:r>
                      <a:r>
                        <a:rPr lang="ko"/>
                        <a:t>2</a:t>
                      </a:r>
                      <a:r>
                        <a:rPr lang="ko"/>
                        <a:t>라벨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2.VLM </a:t>
            </a:r>
            <a:r>
              <a:rPr lang="ko"/>
              <a:t>용 feature 비어있던 칸 채우기 완료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3927350"/>
            <a:ext cx="85206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 sz="4600"/>
              <a:t>https://docs.google.com/spreadsheets/d/1wIOjRmFsJxhmgqzPzduW4z7oyn788RrG/edit?gid=703393202#gid=703393202</a:t>
            </a:r>
            <a:endParaRPr sz="4600"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6700" y="1090216"/>
            <a:ext cx="5260650" cy="283713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/>
        </p:nvSpPr>
        <p:spPr>
          <a:xfrm>
            <a:off x="412825" y="1017725"/>
            <a:ext cx="20418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비어있던 칸 채움.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</a:t>
            </a:r>
            <a:r>
              <a:rPr lang="ko"/>
              <a:t>논문과의 데이터 비교(GT data 0 기준)</a:t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75" y="1030000"/>
            <a:ext cx="4743876" cy="308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5751" y="1325825"/>
            <a:ext cx="3783624" cy="2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 txBox="1"/>
          <p:nvPr/>
        </p:nvSpPr>
        <p:spPr>
          <a:xfrm>
            <a:off x="1049075" y="4094425"/>
            <a:ext cx="57240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데이터가 없는 클래스가 15개.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9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3.cos euc </a:t>
            </a:r>
            <a:r>
              <a:rPr lang="ko"/>
              <a:t>비교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cos 방식은 내적 , euc방식은 단순 거리로 학습 및 test가 진행 </a:t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48814"/>
            <a:ext cx="7375774" cy="302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0"/>
          <p:cNvSpPr txBox="1"/>
          <p:nvPr/>
        </p:nvSpPr>
        <p:spPr>
          <a:xfrm>
            <a:off x="275000" y="4573125"/>
            <a:ext cx="84129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거의 사실상 동일한 결과를 보여줌.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3. </a:t>
            </a:r>
            <a:r>
              <a:rPr lang="ko"/>
              <a:t>새로운 방식 Mahalanobis 거리를 측정</a:t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88723"/>
            <a:ext cx="5738275" cy="235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/>
          <p:cNvPicPr preferRelativeResize="0"/>
          <p:nvPr/>
        </p:nvPicPr>
        <p:blipFill rotWithShape="1">
          <a:blip r:embed="rId4">
            <a:alphaModFix/>
          </a:blip>
          <a:srcRect b="-18590" l="-2010" r="2010" t="18590"/>
          <a:stretch/>
        </p:blipFill>
        <p:spPr>
          <a:xfrm>
            <a:off x="254675" y="3432900"/>
            <a:ext cx="3442200" cy="107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 txBox="1"/>
          <p:nvPr/>
        </p:nvSpPr>
        <p:spPr>
          <a:xfrm>
            <a:off x="254675" y="4293738"/>
            <a:ext cx="3063900" cy="7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1"/>
                </a:solidFill>
              </a:rPr>
              <a:t>Mahalanobis에서 굉장히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2000">
                <a:solidFill>
                  <a:schemeClr val="dk1"/>
                </a:solidFill>
              </a:rPr>
              <a:t>acc와 F1이 높음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7525" y="3359000"/>
            <a:ext cx="4850551" cy="153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82274" y="888713"/>
            <a:ext cx="3561728" cy="534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GT , Mean , SS </a:t>
            </a:r>
            <a:r>
              <a:rPr lang="ko"/>
              <a:t>비교</a:t>
            </a:r>
            <a:endParaRPr/>
          </a:p>
        </p:txBody>
      </p:sp>
      <p:graphicFrame>
        <p:nvGraphicFramePr>
          <p:cNvPr id="125" name="Google Shape;125;p22"/>
          <p:cNvGraphicFramePr/>
          <p:nvPr/>
        </p:nvGraphicFramePr>
        <p:xfrm>
          <a:off x="311700" y="114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{C73DFCB6-4BF0-4DC1-8351-DE66E80F73FF}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Prototype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Accuracy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Macro-F1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GT + Euclidean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82.76%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64.16%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Mean + Euclidean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81.90%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64.12%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SS + Euclidean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47.41%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37.75%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6" name="Google Shape;126;p22"/>
          <p:cNvSpPr txBox="1"/>
          <p:nvPr/>
        </p:nvSpPr>
        <p:spPr>
          <a:xfrm>
            <a:off x="311700" y="2770700"/>
            <a:ext cx="78558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동일 모델 , Euclid로 평가 결과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GT가 가장 좋고 , mean 은 gt와 비슷함. SS는 점수가 낮음.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참고&gt;&gt;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7" name="Google Shape;1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000" y="3634251"/>
            <a:ext cx="4466474" cy="150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앞으로 계획</a:t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GT</a:t>
            </a:r>
            <a:r>
              <a:rPr lang="ko"/>
              <a:t>데이터가 있는것만 open label로 사용하고 , 없는것은 close로 사용하여 test 진행</a:t>
            </a:r>
            <a:br>
              <a:rPr lang="ko"/>
            </a:br>
            <a:endParaRPr/>
          </a:p>
        </p:txBody>
      </p:sp>
      <p:pic>
        <p:nvPicPr>
          <p:cNvPr id="134" name="Google Shape;1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302" y="1667000"/>
            <a:ext cx="3823802" cy="299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결론</a:t>
            </a:r>
            <a:endParaRPr/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chemeClr val="dk1"/>
                </a:solidFill>
              </a:rPr>
              <a:t>Euclidean과 Cosine의 차이는 크지 않았음</a:t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chemeClr val="dk1"/>
                </a:solidFill>
              </a:rPr>
              <a:t>대부분의 경우 Full-set 학습은 </a:t>
            </a:r>
            <a:br>
              <a:rPr b="1" lang="ko" sz="2000">
                <a:solidFill>
                  <a:schemeClr val="dk1"/>
                </a:solidFill>
              </a:rPr>
            </a:br>
            <a:r>
              <a:rPr b="1" lang="ko" sz="2000">
                <a:solidFill>
                  <a:schemeClr val="dk1"/>
                </a:solidFill>
              </a:rPr>
              <a:t>Closed-only 학습보다 유리한 경향을  보임.</a:t>
            </a:r>
            <a:endParaRPr b="1" sz="20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chemeClr val="dk1"/>
                </a:solidFill>
              </a:rPr>
              <a:t>SupCon의 개선 효과는 확인되지 X</a:t>
            </a:r>
            <a:endParaRPr b="1" sz="20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2000">
                <a:solidFill>
                  <a:schemeClr val="dk1"/>
                </a:solidFill>
              </a:rPr>
              <a:t>추후 mahalanobis를 사용할 경우 metric에서 높은 성능 기대.</a:t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3. Segmentation </a:t>
            </a:r>
            <a:r>
              <a:rPr lang="ko"/>
              <a:t>목차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AutoNum type="arabicPeriod"/>
            </a:pPr>
            <a:r>
              <a:rPr lang="ko" sz="1500">
                <a:solidFill>
                  <a:srgbClr val="000000"/>
                </a:solidFill>
              </a:rPr>
              <a:t>11label이미지에 대한 segmentation mask 생성 결과 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AutoNum type="arabicPeriod"/>
            </a:pPr>
            <a:r>
              <a:rPr lang="ko" sz="1500">
                <a:solidFill>
                  <a:srgbClr val="000000"/>
                </a:solidFill>
              </a:rPr>
              <a:t>mask 기반 band mask 생성 결과 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AutoNum type="arabicPeriod"/>
            </a:pPr>
            <a:r>
              <a:rPr b="1" lang="ko" sz="1500" u="sng">
                <a:solidFill>
                  <a:srgbClr val="000000"/>
                </a:solidFill>
              </a:rPr>
              <a:t>기존 방식(AI hub에서 실험하던)을 11label에 적용한 실험</a:t>
            </a:r>
            <a:endParaRPr b="1" sz="1500" u="sng">
              <a:solidFill>
                <a:srgbClr val="000000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AutoNum type="arabicPeriod"/>
            </a:pPr>
            <a:r>
              <a:rPr b="1" lang="ko" sz="1500">
                <a:solidFill>
                  <a:srgbClr val="000000"/>
                </a:solidFill>
              </a:rPr>
              <a:t>test이미지도 mask 생성 파이프라인을 추가한 2- stage 방식 → 불필요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AutoNum type="arabicPeriod"/>
            </a:pPr>
            <a:r>
              <a:rPr b="1" lang="ko" sz="1500" u="sng">
                <a:solidFill>
                  <a:srgbClr val="000000"/>
                </a:solidFill>
              </a:rPr>
              <a:t>이미지의 band부분만 잘라서 vit 학습 시키는 방식</a:t>
            </a:r>
            <a:r>
              <a:rPr lang="ko" sz="1500" u="sng">
                <a:solidFill>
                  <a:srgbClr val="000000"/>
                </a:solidFill>
              </a:rPr>
              <a:t> </a:t>
            </a:r>
            <a:endParaRPr sz="1500" u="sng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3-1. 11label</a:t>
            </a:r>
            <a:r>
              <a:rPr lang="ko"/>
              <a:t>이미지에 대한 </a:t>
            </a:r>
            <a:r>
              <a:rPr lang="ko"/>
              <a:t>segmentation mask </a:t>
            </a:r>
            <a:r>
              <a:rPr lang="ko"/>
              <a:t>생성 결과 </a:t>
            </a:r>
            <a:endParaRPr/>
          </a:p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</a:t>
            </a:r>
            <a:r>
              <a:rPr lang="ko" sz="1200">
                <a:solidFill>
                  <a:schemeClr val="dk1"/>
                </a:solidFill>
              </a:rPr>
              <a:t>기존에 AI hub에서 finetuning 시킨 sam2+adapter+U-net 모델로 11label 데이터셋 mask 생성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-기존 AI hub에서처럼 ‘내부 빈공간 채우기’, ‘가장 큰 덩어리를 제외한 부분 제거하기’ 등의 후처리 동일하게 수행 </a:t>
            </a:r>
            <a:endParaRPr sz="12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</a:rPr>
              <a:t>→ 10% 정도는 2번째 사진처럼 부정확함.</a:t>
            </a:r>
            <a:endParaRPr sz="12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</a:rPr>
              <a:t>→ </a:t>
            </a:r>
            <a:r>
              <a:rPr lang="ko" sz="1200" u="sng">
                <a:solidFill>
                  <a:schemeClr val="dk1"/>
                </a:solidFill>
              </a:rPr>
              <a:t>AI hub data에서 실험한 것보다 조금 더 부정확함 </a:t>
            </a:r>
            <a:r>
              <a:rPr lang="ko" sz="1200">
                <a:solidFill>
                  <a:schemeClr val="dk1"/>
                </a:solidFill>
              </a:rPr>
              <a:t>(데이터 품질 문제 영향이 있는 것으로 추정)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53" name="Google Shape;1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8425" y="3104788"/>
            <a:ext cx="853625" cy="144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29875" y="3164325"/>
            <a:ext cx="900950" cy="132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/>
              <a:t>3-2. </a:t>
            </a:r>
            <a:r>
              <a:rPr lang="ko" sz="2500"/>
              <a:t>mask 기반 band mask 생성 결과 </a:t>
            </a:r>
            <a:endParaRPr sz="2500"/>
          </a:p>
        </p:txBody>
      </p:sp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311700" y="11707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-mask </a:t>
            </a:r>
            <a:r>
              <a:rPr lang="ko"/>
              <a:t>생성의 정확도가 낮음→ AI hub보다 더 넓게 band mask를 생성함 </a:t>
            </a:r>
            <a:endParaRPr/>
          </a:p>
        </p:txBody>
      </p:sp>
      <p:pic>
        <p:nvPicPr>
          <p:cNvPr id="161" name="Google Shape;16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0375" y="2673912"/>
            <a:ext cx="1218100" cy="117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3125" y="2641410"/>
            <a:ext cx="1218100" cy="124051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7"/>
          <p:cNvSpPr/>
          <p:nvPr/>
        </p:nvSpPr>
        <p:spPr>
          <a:xfrm>
            <a:off x="3388913" y="3101325"/>
            <a:ext cx="558600" cy="320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700"/>
              <a:t>3-3. </a:t>
            </a:r>
            <a:r>
              <a:rPr lang="ko" sz="2700"/>
              <a:t>기존 방식(AI hub에서 실험하던)을 11label에 적용한 실험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-band_vit_2 </a:t>
            </a:r>
            <a:r>
              <a:rPr lang="ko" sz="1300">
                <a:solidFill>
                  <a:schemeClr val="dk1"/>
                </a:solidFill>
              </a:rPr>
              <a:t>폴더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- 구조: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700">
                <a:solidFill>
                  <a:schemeClr val="dk1"/>
                </a:solidFill>
              </a:rPr>
              <a:t>	</a:t>
            </a:r>
            <a:r>
              <a:rPr lang="ko" sz="1200">
                <a:solidFill>
                  <a:schemeClr val="dk1"/>
                </a:solidFill>
              </a:rPr>
              <a:t>1.</a:t>
            </a:r>
            <a:r>
              <a:rPr lang="ko" sz="1000">
                <a:solidFill>
                  <a:schemeClr val="dk1"/>
                </a:solidFill>
              </a:rPr>
              <a:t>Band mask는 학습 loss 계산에만 사용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	2. test이미지는 bandmask 없이, 바로 파인튜닝된 vit를 통해 분류됨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-전처리: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	</a:t>
            </a:r>
            <a:r>
              <a:rPr lang="ko" sz="1000">
                <a:solidFill>
                  <a:schemeClr val="dk1"/>
                </a:solidFill>
              </a:rPr>
              <a:t>1.vit의 224*224 입력을 맞추기위해 이미지에 padding 처리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1"/>
              <a:buFont typeface="Arial"/>
              <a:buNone/>
            </a:pPr>
            <a:r>
              <a:rPr lang="ko" sz="2700"/>
              <a:t>3-3. 기존 방식(AI hub에서 실험하던)을 11label에 적용한 실험</a:t>
            </a:r>
            <a:endParaRPr/>
          </a:p>
        </p:txBody>
      </p:sp>
      <p:graphicFrame>
        <p:nvGraphicFramePr>
          <p:cNvPr id="175" name="Google Shape;175;p29"/>
          <p:cNvGraphicFramePr/>
          <p:nvPr/>
        </p:nvGraphicFramePr>
        <p:xfrm>
          <a:off x="549463" y="1202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{C73DFCB6-4BF0-4DC1-8351-DE66E80F73FF}</a:tableStyleId>
              </a:tblPr>
              <a:tblGrid>
                <a:gridCol w="860300"/>
                <a:gridCol w="860300"/>
                <a:gridCol w="860300"/>
                <a:gridCol w="860300"/>
                <a:gridCol w="860300"/>
                <a:gridCol w="860300"/>
                <a:gridCol w="860300"/>
                <a:gridCol w="860300"/>
                <a:gridCol w="860300"/>
              </a:tblGrid>
              <a:tr h="49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>
                          <a:solidFill>
                            <a:schemeClr val="dk1"/>
                          </a:solidFill>
                        </a:rPr>
                        <a:t>실험번호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1</a:t>
                      </a:r>
                      <a:r>
                        <a:rPr b="1" lang="ko"/>
                        <a:t>번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r>
                        <a:rPr lang="ko"/>
                        <a:t>번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</a:t>
                      </a:r>
                      <a:r>
                        <a:rPr lang="ko"/>
                        <a:t>번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0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alpha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0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lamda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0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block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0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test_f1_score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0.764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0.723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0.682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0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test_acc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0.772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0.762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실험1 결과 (test_acc=0.78)</a:t>
            </a:r>
            <a:endParaRPr/>
          </a:p>
        </p:txBody>
      </p:sp>
      <p:sp>
        <p:nvSpPr>
          <p:cNvPr id="181" name="Google Shape;18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575" y="1216450"/>
            <a:ext cx="3791086" cy="3551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7709" y="1216449"/>
            <a:ext cx="4507689" cy="157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7700" y="2881548"/>
            <a:ext cx="4507699" cy="157540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0"/>
          <p:cNvSpPr txBox="1"/>
          <p:nvPr/>
        </p:nvSpPr>
        <p:spPr>
          <a:xfrm>
            <a:off x="311700" y="4703625"/>
            <a:ext cx="472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test데이터: 총 101장 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86" name="Google Shape;186;p30"/>
          <p:cNvSpPr txBox="1"/>
          <p:nvPr/>
        </p:nvSpPr>
        <p:spPr>
          <a:xfrm>
            <a:off x="4471200" y="4645675"/>
            <a:ext cx="467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-&gt;마지막 N개 ViT 블록의 CLS→patch self-attention을 평균화한것을 시각화 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(N:파라미터입력에 따라 달라짐&lt;band-attention-blocks&gt;)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실험1 결과 </a:t>
            </a:r>
            <a:endParaRPr/>
          </a:p>
        </p:txBody>
      </p:sp>
      <p:sp>
        <p:nvSpPr>
          <p:cNvPr id="192" name="Google Shape;19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300" y="1616525"/>
            <a:ext cx="3669700" cy="281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5405" y="1602614"/>
            <a:ext cx="3669700" cy="2842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실험 1결과 </a:t>
            </a:r>
            <a:endParaRPr/>
          </a:p>
        </p:txBody>
      </p:sp>
      <p:sp>
        <p:nvSpPr>
          <p:cNvPr id="200" name="Google Shape;200;p32"/>
          <p:cNvSpPr txBox="1"/>
          <p:nvPr>
            <p:ph idx="1" type="body"/>
          </p:nvPr>
        </p:nvSpPr>
        <p:spPr>
          <a:xfrm>
            <a:off x="311700" y="1160000"/>
            <a:ext cx="8520600" cy="32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</a:t>
            </a:r>
            <a:r>
              <a:rPr lang="ko">
                <a:solidFill>
                  <a:schemeClr val="dk1"/>
                </a:solidFill>
              </a:rPr>
              <a:t>클래스별 정확도 </a:t>
            </a:r>
            <a:r>
              <a:rPr lang="ko"/>
              <a:t>-&gt;implance,noris,nucleoss,osstem 클래스의 정확도가 특히 낮음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100"/>
              <a:t>-</a:t>
            </a:r>
            <a:r>
              <a:rPr lang="ko" sz="1400"/>
              <a:t>&gt;nucleoss: 학습데이터가 12장 밖에 되지 않음 (데이터 부족)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400"/>
              <a:t>-&gt;noris와 osstem은 서로 데이터가 뒤섞인 것으로 의심됨. (두 클래스 간의 혼동이 많음)</a:t>
            </a:r>
            <a:endParaRPr sz="14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201" name="Google Shape;201;p32"/>
          <p:cNvPicPr preferRelativeResize="0"/>
          <p:nvPr/>
        </p:nvPicPr>
        <p:blipFill rotWithShape="1">
          <a:blip r:embed="rId3">
            <a:alphaModFix/>
          </a:blip>
          <a:srcRect b="0" l="-21930" r="21930" t="0"/>
          <a:stretch/>
        </p:blipFill>
        <p:spPr>
          <a:xfrm>
            <a:off x="-791026" y="2571749"/>
            <a:ext cx="5089325" cy="244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실험 2결과 </a:t>
            </a:r>
            <a:r>
              <a:rPr lang="ko"/>
              <a:t>(test_acc=0.77)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8" name="Google Shape;20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953" y="1152475"/>
            <a:ext cx="3864299" cy="369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3-3 </a:t>
            </a:r>
            <a:r>
              <a:rPr lang="ko" sz="2700"/>
              <a:t>기존 방식(AI hub에서 실험하던)을 11label에 적용한 실험 (총평)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4"/>
          <p:cNvSpPr txBox="1"/>
          <p:nvPr>
            <p:ph idx="1" type="body"/>
          </p:nvPr>
        </p:nvSpPr>
        <p:spPr>
          <a:xfrm>
            <a:off x="311700" y="14484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-&gt; </a:t>
            </a:r>
            <a:r>
              <a:rPr lang="ko"/>
              <a:t>인자를 바꿔가며 실험해봐도 큰 차이는 나타나지 않음.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-&gt; 데이터셋의 규모가 작고 test셋 자체가 총 101개정도이며, 특히 데이터 수가 적은 클래스(test 데이터수가 2-3장)에 대해서는 예측결과가 계속 달라짐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-&gt;같은 실험이지만 AI hub data데이터셋의 정확도 (acc=0.96,macro_f1=0.93)에 비해서는 확연히 떨어짐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589"/>
              <a:t>3-4. </a:t>
            </a:r>
            <a:r>
              <a:rPr lang="ko" sz="2589"/>
              <a:t>test이미지도 mask 생성 파이프라인을 추가한 2- stage 방식 </a:t>
            </a:r>
            <a:endParaRPr sz="258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5"/>
          <p:cNvSpPr txBox="1"/>
          <p:nvPr>
            <p:ph idx="1" type="body"/>
          </p:nvPr>
        </p:nvSpPr>
        <p:spPr>
          <a:xfrm>
            <a:off x="4621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-test,valid</a:t>
            </a:r>
            <a:r>
              <a:rPr lang="ko">
                <a:solidFill>
                  <a:schemeClr val="dk1"/>
                </a:solidFill>
              </a:rPr>
              <a:t>이미지의 band_mask를 segmentation model을 통해서 정확히 잡아 학습시키려 했으나, 기본 방식도 충분히 test이미지의 band_mask에 집중을 잘하는 것으로 보임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</a:t>
            </a:r>
            <a:r>
              <a:rPr lang="ko" u="sng">
                <a:solidFill>
                  <a:srgbClr val="000000"/>
                </a:solidFill>
              </a:rPr>
              <a:t>-&gt;필요없는 방식이라고 판단</a:t>
            </a:r>
            <a:endParaRPr u="sng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500"/>
              <a:t>기본 방식= train 이미지만 band_mask를 생성하여 학습, test이미지는 파인튜닝된 vit로 바로 들어감. </a:t>
            </a:r>
            <a:endParaRPr sz="1500"/>
          </a:p>
        </p:txBody>
      </p:sp>
      <p:pic>
        <p:nvPicPr>
          <p:cNvPr id="221" name="Google Shape;22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100" y="3246500"/>
            <a:ext cx="4368974" cy="158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5"/>
          <p:cNvSpPr txBox="1"/>
          <p:nvPr/>
        </p:nvSpPr>
        <p:spPr>
          <a:xfrm>
            <a:off x="5039925" y="3874725"/>
            <a:ext cx="412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&lt;-3-3 실험1의 attention map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3-5 </a:t>
            </a:r>
            <a:r>
              <a:rPr lang="ko"/>
              <a:t>이미지의 band부분만 잘라서 학습 시키는 방법 </a:t>
            </a:r>
            <a:endParaRPr/>
          </a:p>
        </p:txBody>
      </p:sp>
      <p:sp>
        <p:nvSpPr>
          <p:cNvPr id="228" name="Google Shape;228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</a:rPr>
              <a:t>-</a:t>
            </a:r>
            <a:r>
              <a:rPr lang="ko" sz="1600">
                <a:solidFill>
                  <a:schemeClr val="dk1"/>
                </a:solidFill>
              </a:rPr>
              <a:t>외곽의 좁은 band 픽셀만 남기고 나머지는 검게 만든 뒤, vit에 학습 시키는 방식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600">
                <a:solidFill>
                  <a:schemeClr val="dk1"/>
                </a:solidFill>
              </a:rPr>
              <a:t> </a:t>
            </a:r>
            <a:r>
              <a:rPr lang="ko" sz="1500">
                <a:solidFill>
                  <a:schemeClr val="dk1"/>
                </a:solidFill>
              </a:rPr>
              <a:t>-train,valid,test 이미지에 대해 ,모두 band부분만 남긴 이미지로 전처리 후, 기본 vit 로 학습,테스트 진행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229" name="Google Shape;22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3050" y="2237963"/>
            <a:ext cx="917900" cy="20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6"/>
          <p:cNvSpPr/>
          <p:nvPr/>
        </p:nvSpPr>
        <p:spPr>
          <a:xfrm>
            <a:off x="2492888" y="3054675"/>
            <a:ext cx="2291400" cy="305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6650" y="2184450"/>
            <a:ext cx="2167250" cy="21547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6"/>
          <p:cNvSpPr txBox="1"/>
          <p:nvPr/>
        </p:nvSpPr>
        <p:spPr>
          <a:xfrm>
            <a:off x="4886650" y="4433450"/>
            <a:ext cx="4358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ㄴ vit의 input이미지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(outer-band=15, inter-band=15기준)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ko"/>
              <a:t>3-5 이미지의 band부분만 잘라서 학습 시키는 방법-</a:t>
            </a:r>
            <a:r>
              <a:rPr b="1" lang="ko"/>
              <a:t>실험결과  </a:t>
            </a:r>
            <a:endParaRPr b="1"/>
          </a:p>
        </p:txBody>
      </p:sp>
      <p:sp>
        <p:nvSpPr>
          <p:cNvPr id="238" name="Google Shape;238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u="sng">
                <a:solidFill>
                  <a:schemeClr val="dk1"/>
                </a:solidFill>
              </a:rPr>
              <a:t>test_acc=0.7426</a:t>
            </a:r>
            <a:endParaRPr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u="sng">
                <a:solidFill>
                  <a:schemeClr val="dk1"/>
                </a:solidFill>
              </a:rPr>
              <a:t>t</a:t>
            </a:r>
            <a:r>
              <a:rPr lang="ko" u="sng">
                <a:solidFill>
                  <a:schemeClr val="dk1"/>
                </a:solidFill>
              </a:rPr>
              <a:t>est_macro_f1=0.7027</a:t>
            </a:r>
            <a:endParaRPr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→ 3-3 (기존의 band부분 가중치 방식)실험 결과와 유사.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→ 데이터셋 자체에 문제가 있어보임. 정확한 결과는 AI_hub 데이터로 테스트해봐야할 것으로 보임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ko"/>
              <a:t>3-5 이미지의 band부분만 잘라서 학습 시키는 방법-</a:t>
            </a:r>
            <a:r>
              <a:rPr b="1" lang="ko"/>
              <a:t>실험결과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8"/>
          <p:cNvSpPr txBox="1"/>
          <p:nvPr>
            <p:ph idx="1" type="body"/>
          </p:nvPr>
        </p:nvSpPr>
        <p:spPr>
          <a:xfrm>
            <a:off x="246975" y="13744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5" name="Google Shape;24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8" y="1341628"/>
            <a:ext cx="3803476" cy="133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975" y="2821450"/>
            <a:ext cx="4025400" cy="143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72375" y="1341625"/>
            <a:ext cx="4281624" cy="152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00488" y="2942041"/>
            <a:ext cx="4025399" cy="1410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ko"/>
              <a:t>3-5 이미지의 band부분만 잘라서 학습 시키는 방법-</a:t>
            </a:r>
            <a:r>
              <a:rPr b="1" lang="ko"/>
              <a:t>실험결과</a:t>
            </a:r>
            <a:endParaRPr/>
          </a:p>
        </p:txBody>
      </p:sp>
      <p:sp>
        <p:nvSpPr>
          <p:cNvPr id="254" name="Google Shape;254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5" name="Google Shape;25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652" y="1241450"/>
            <a:ext cx="4060651" cy="3238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6000" y="1269338"/>
            <a:ext cx="4060649" cy="3182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3" name="Google Shape;26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5150" y="551300"/>
            <a:ext cx="4329901" cy="423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 임플란트 자동 탐지 ] 4-1. 실험 전체 흐름</a:t>
            </a:r>
            <a:endParaRPr/>
          </a:p>
        </p:txBody>
      </p:sp>
      <p:sp>
        <p:nvSpPr>
          <p:cNvPr id="269" name="Google Shape;269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클래스 정의 : implant 단일 클래스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 데이터셋 : 기존에 사용하던 7라벨 public 데이터셋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 모델: Grounding DINO // LoRA fine-tuning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 best epoch 기준 : val mAP@.5:.95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ko"/>
              <a:t>- 최종 목표 : xray 이미지에서 임플란트 탐지 (bounding box)</a:t>
            </a:r>
            <a:endParaRPr b="1"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ko"/>
              <a:t>- 이번 실험 목표 : 1. val set을 고정한다. // 2. 분석 추가 </a:t>
            </a:r>
            <a:endParaRPr b="1" i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ko"/>
              <a:t>[ 임플란트 자동 탐지 모델 ] 4-2. </a:t>
            </a:r>
            <a:r>
              <a:rPr lang="ko"/>
              <a:t>데이터셋 분포</a:t>
            </a:r>
            <a:endParaRPr/>
          </a:p>
        </p:txBody>
      </p:sp>
      <p:graphicFrame>
        <p:nvGraphicFramePr>
          <p:cNvPr id="275" name="Google Shape;275;p42"/>
          <p:cNvGraphicFramePr/>
          <p:nvPr/>
        </p:nvGraphicFramePr>
        <p:xfrm>
          <a:off x="311700" y="1191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{C73DFCB6-4BF0-4DC1-8351-DE66E80F73FF}</a:tableStyleId>
              </a:tblPr>
              <a:tblGrid>
                <a:gridCol w="1679100"/>
                <a:gridCol w="2581200"/>
                <a:gridCol w="2130150"/>
                <a:gridCol w="2130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train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val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test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zero - shot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 row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200장 / 289 박스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fine tuning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144장 / 211 박스</a:t>
                      </a:r>
                      <a:endParaRPr/>
                    </a:p>
                  </a:txBody>
                  <a:tcPr marT="91425" marB="91425" marR="91425" marL="91425"/>
                </a:tc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299장 / 409 박스</a:t>
                      </a:r>
                      <a:endParaRPr/>
                    </a:p>
                  </a:txBody>
                  <a:tcPr marT="91425" marB="91425" marR="91425" marL="91425" anchor="ctr"/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fine tuning 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213장(+ 69)   / 300 박스</a:t>
                      </a:r>
                      <a:endParaRPr/>
                    </a:p>
                  </a:txBody>
                  <a:tcPr marT="91425" marB="91425" marR="91425" marL="91425"/>
                </a:tc>
                <a:tc vMerge="1"/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fine tuning 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352장(+ 139) / 496 박스</a:t>
                      </a:r>
                      <a:endParaRPr/>
                    </a:p>
                  </a:txBody>
                  <a:tcPr marT="91425" marB="91425" marR="91425" marL="91425"/>
                </a:tc>
                <a:tc vMerge="1"/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fine tuning 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697장(+ 345)</a:t>
                      </a:r>
                      <a:endParaRPr/>
                    </a:p>
                  </a:txBody>
                  <a:tcPr marT="91425" marB="91425" marR="91425" marL="91425"/>
                </a:tc>
                <a:tc vMerge="1"/>
                <a:tc vMerge="1"/>
              </a:tr>
            </a:tbl>
          </a:graphicData>
        </a:graphic>
      </p:graphicFrame>
      <p:sp>
        <p:nvSpPr>
          <p:cNvPr id="276" name="Google Shape;276;p42"/>
          <p:cNvSpPr txBox="1"/>
          <p:nvPr/>
        </p:nvSpPr>
        <p:spPr>
          <a:xfrm>
            <a:off x="311700" y="3742925"/>
            <a:ext cx="85206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- 확인 요소 : fine tuning 데이터양을 증량하면 성능이 증가하는지 확인하고자 한다.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- 총 1000장 사용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4-3. 실험 결과 - (1) 학습 결과</a:t>
            </a:r>
            <a:endParaRPr/>
          </a:p>
        </p:txBody>
      </p:sp>
      <p:graphicFrame>
        <p:nvGraphicFramePr>
          <p:cNvPr id="282" name="Google Shape;282;p43"/>
          <p:cNvGraphicFramePr/>
          <p:nvPr/>
        </p:nvGraphicFramePr>
        <p:xfrm>
          <a:off x="3117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{C73DFCB6-4BF0-4DC1-8351-DE66E80F73FF}</a:tableStyleId>
              </a:tblPr>
              <a:tblGrid>
                <a:gridCol w="1225800"/>
                <a:gridCol w="810525"/>
                <a:gridCol w="747700"/>
                <a:gridCol w="873350"/>
                <a:gridCol w="810525"/>
                <a:gridCol w="810525"/>
                <a:gridCol w="810525"/>
                <a:gridCol w="810525"/>
                <a:gridCol w="810525"/>
                <a:gridCol w="810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best epoch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thr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val mAP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@.5:.95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val AP50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val loss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train loss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zero - shot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9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x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fine tuning 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0.8189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0.9001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0.4757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0.2746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0.839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0.841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0.840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fine tuning 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0.35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0.8584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0.9229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0.4321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0.2912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0.923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0.797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0.856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fine tuning 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0.8934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0.9504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0.3857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0.2102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0.948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0.892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0.919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fine tuning 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0.9053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0.9631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0.3575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0.2041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0.954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0.917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0.935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4-3. 실험 결과 - (2) test 결과</a:t>
            </a:r>
            <a:endParaRPr/>
          </a:p>
        </p:txBody>
      </p:sp>
      <p:graphicFrame>
        <p:nvGraphicFramePr>
          <p:cNvPr id="288" name="Google Shape;288;p44"/>
          <p:cNvGraphicFramePr/>
          <p:nvPr/>
        </p:nvGraphicFramePr>
        <p:xfrm>
          <a:off x="3117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{C73DFCB6-4BF0-4DC1-8351-DE66E80F73FF}</a:tableStyleId>
              </a:tblPr>
              <a:tblGrid>
                <a:gridCol w="1153425"/>
                <a:gridCol w="716975"/>
                <a:gridCol w="1200300"/>
                <a:gridCol w="716200"/>
                <a:gridCol w="862075"/>
                <a:gridCol w="862075"/>
                <a:gridCol w="862075"/>
                <a:gridCol w="862075"/>
                <a:gridCol w="1285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AP50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mAP@.5:.95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AP95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thr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P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F1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TP/FP/FN</a:t>
                      </a:r>
                      <a:br>
                        <a:rPr lang="ko">
                          <a:solidFill>
                            <a:schemeClr val="dk1"/>
                          </a:solidFill>
                        </a:rPr>
                      </a:br>
                      <a:r>
                        <a:rPr lang="ko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">
                          <a:solidFill>
                            <a:schemeClr val="dk1"/>
                          </a:solidFill>
                        </a:rPr>
                        <a:t>289)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zero - shot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0.5470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0.4433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0.2895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0.30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0.448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0.664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0.535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192 / 237 / 97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fine tuning 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0.8945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0.8267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0.6703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0.25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0.865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0.844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0.855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244 / 38 / 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fine tuning 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0.9175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0.8615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0.6823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0.35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0.947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0.810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0.873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234 / </a:t>
                      </a:r>
                      <a:r>
                        <a:rPr b="1" i="0" lang="ko" u="none" cap="none" strike="noStrike">
                          <a:solidFill>
                            <a:schemeClr val="dk1"/>
                          </a:solidFill>
                        </a:rPr>
                        <a:t>13</a:t>
                      </a: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 / 55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fine tuning 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0.9281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0.8844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0.7338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0.30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0.923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0.872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0.897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" u="none" cap="none" strike="noStrike">
                          <a:solidFill>
                            <a:schemeClr val="dk1"/>
                          </a:solidFill>
                        </a:rPr>
                        <a:t>252 / 21 / 37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fine tuning 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u="none" cap="none" strike="noStrike">
                          <a:solidFill>
                            <a:schemeClr val="dk1"/>
                          </a:solidFill>
                        </a:rPr>
                        <a:t>0.9406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u="none" cap="none" strike="noStrike">
                          <a:solidFill>
                            <a:schemeClr val="dk1"/>
                          </a:solidFill>
                        </a:rPr>
                        <a:t>0.9018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u="none" cap="none" strike="noStrike">
                          <a:solidFill>
                            <a:schemeClr val="dk1"/>
                          </a:solidFill>
                        </a:rPr>
                        <a:t>0.7734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u="none" cap="none" strike="noStrike">
                          <a:solidFill>
                            <a:schemeClr val="dk1"/>
                          </a:solidFill>
                        </a:rPr>
                        <a:t>0.30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u="none" cap="none" strike="noStrike">
                          <a:solidFill>
                            <a:schemeClr val="dk1"/>
                          </a:solidFill>
                        </a:rPr>
                        <a:t>0.929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u="none" cap="none" strike="noStrike">
                          <a:solidFill>
                            <a:schemeClr val="dk1"/>
                          </a:solidFill>
                        </a:rPr>
                        <a:t>0.900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u="none" cap="none" strike="noStrike">
                          <a:solidFill>
                            <a:schemeClr val="dk1"/>
                          </a:solidFill>
                        </a:rPr>
                        <a:t>0.914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u="none" cap="none" strike="noStrike">
                          <a:solidFill>
                            <a:schemeClr val="dk1"/>
                          </a:solidFill>
                        </a:rPr>
                        <a:t>260 / 20 / 29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89" name="Google Shape;289;p44"/>
          <p:cNvSpPr txBox="1"/>
          <p:nvPr/>
        </p:nvSpPr>
        <p:spPr>
          <a:xfrm>
            <a:off x="5832300" y="41932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1000">
                <a:solidFill>
                  <a:schemeClr val="dk2"/>
                </a:solidFill>
              </a:rPr>
              <a:t>IOU &gt; 0.5 기준</a:t>
            </a:r>
            <a:endParaRPr i="1" sz="1000"/>
          </a:p>
        </p:txBody>
      </p:sp>
      <p:sp>
        <p:nvSpPr>
          <p:cNvPr id="290" name="Google Shape;290;p44"/>
          <p:cNvSpPr txBox="1"/>
          <p:nvPr/>
        </p:nvSpPr>
        <p:spPr>
          <a:xfrm>
            <a:off x="6878600" y="4848025"/>
            <a:ext cx="228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ko"/>
              <a:t>4-3. 실험 결과 - (2) test 결과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TP/FP/FN = 260 / 20 / 29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- 289개 임플란트 중 29개는 못잡았고, 20개는 잘못 잡았다.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FP 오류 유형 (총 20개)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	- 중복 검출 10개 (박스를 2개 이상) </a:t>
            </a:r>
            <a:r>
              <a:rPr lang="ko"/>
              <a:t>// </a:t>
            </a:r>
            <a:r>
              <a:rPr lang="ko"/>
              <a:t>위치 부정확(IOU 0.5이하)  3개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	- </a:t>
            </a:r>
            <a:r>
              <a:rPr lang="ko"/>
              <a:t> </a:t>
            </a:r>
            <a:r>
              <a:rPr b="1" lang="ko"/>
              <a:t>오검출 7개</a:t>
            </a:r>
            <a:r>
              <a:rPr lang="ko"/>
              <a:t> (실제 임플란트가 없는 위치의 예측)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</a:t>
            </a:r>
            <a:r>
              <a:rPr lang="ko"/>
              <a:t>FN 놓친 유형 (총 29개)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	- confidence score 부족해서 제외된 경우 19개 // 위치 부정확 3개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-  </a:t>
            </a:r>
            <a:r>
              <a:rPr b="1" lang="ko"/>
              <a:t>미검출 7개 (박스 x)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ex.</a:t>
            </a:r>
            <a:endParaRPr/>
          </a:p>
        </p:txBody>
      </p:sp>
      <p:sp>
        <p:nvSpPr>
          <p:cNvPr id="302" name="Google Shape;302;p46"/>
          <p:cNvSpPr txBox="1"/>
          <p:nvPr>
            <p:ph idx="1" type="body"/>
          </p:nvPr>
        </p:nvSpPr>
        <p:spPr>
          <a:xfrm>
            <a:off x="311700" y="3996175"/>
            <a:ext cx="4070700" cy="8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FP </a:t>
            </a:r>
            <a:r>
              <a:rPr lang="ko"/>
              <a:t>오검출 </a:t>
            </a:r>
            <a:r>
              <a:rPr lang="ko"/>
              <a:t> 1개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FN </a:t>
            </a:r>
            <a:r>
              <a:rPr lang="ko"/>
              <a:t>미검출 </a:t>
            </a:r>
            <a:r>
              <a:rPr lang="ko"/>
              <a:t>6개</a:t>
            </a:r>
            <a:endParaRPr/>
          </a:p>
        </p:txBody>
      </p:sp>
      <p:pic>
        <p:nvPicPr>
          <p:cNvPr id="303" name="Google Shape;303;p46"/>
          <p:cNvPicPr preferRelativeResize="0"/>
          <p:nvPr/>
        </p:nvPicPr>
        <p:blipFill rotWithShape="1">
          <a:blip r:embed="rId3">
            <a:alphaModFix/>
          </a:blip>
          <a:srcRect b="0" l="9172" r="9659" t="0"/>
          <a:stretch/>
        </p:blipFill>
        <p:spPr>
          <a:xfrm>
            <a:off x="311700" y="1174575"/>
            <a:ext cx="4070798" cy="249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6"/>
          <p:cNvSpPr txBox="1"/>
          <p:nvPr/>
        </p:nvSpPr>
        <p:spPr>
          <a:xfrm>
            <a:off x="6082025" y="2018600"/>
            <a:ext cx="307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05" name="Google Shape;305;p46"/>
          <p:cNvPicPr preferRelativeResize="0"/>
          <p:nvPr/>
        </p:nvPicPr>
        <p:blipFill rotWithShape="1">
          <a:blip r:embed="rId4">
            <a:alphaModFix/>
          </a:blip>
          <a:srcRect b="8375" l="0" r="0" t="0"/>
          <a:stretch/>
        </p:blipFill>
        <p:spPr>
          <a:xfrm>
            <a:off x="4495625" y="1174576"/>
            <a:ext cx="4442850" cy="249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6"/>
          <p:cNvSpPr txBox="1"/>
          <p:nvPr>
            <p:ph idx="1" type="body"/>
          </p:nvPr>
        </p:nvSpPr>
        <p:spPr>
          <a:xfrm>
            <a:off x="4572000" y="3996175"/>
            <a:ext cx="4070700" cy="8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FN </a:t>
            </a:r>
            <a:r>
              <a:rPr lang="ko"/>
              <a:t>위치 부정확</a:t>
            </a:r>
            <a:r>
              <a:rPr lang="ko"/>
              <a:t> 3개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FN confidence score </a:t>
            </a:r>
            <a:r>
              <a:rPr lang="ko"/>
              <a:t>부족 3개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FP 오검출 7개</a:t>
            </a:r>
            <a:endParaRPr/>
          </a:p>
        </p:txBody>
      </p:sp>
      <p:pic>
        <p:nvPicPr>
          <p:cNvPr id="312" name="Google Shape;312;p47"/>
          <p:cNvPicPr preferRelativeResize="0"/>
          <p:nvPr/>
        </p:nvPicPr>
        <p:blipFill rotWithShape="1">
          <a:blip r:embed="rId3">
            <a:alphaModFix/>
          </a:blip>
          <a:srcRect b="11556" l="0" r="0" t="11301"/>
          <a:stretch/>
        </p:blipFill>
        <p:spPr>
          <a:xfrm>
            <a:off x="410300" y="1667875"/>
            <a:ext cx="2818050" cy="217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7"/>
          <p:cNvPicPr preferRelativeResize="0"/>
          <p:nvPr/>
        </p:nvPicPr>
        <p:blipFill rotWithShape="1">
          <a:blip r:embed="rId4">
            <a:alphaModFix/>
          </a:blip>
          <a:srcRect b="0" l="14460" r="12065" t="28734"/>
          <a:stretch/>
        </p:blipFill>
        <p:spPr>
          <a:xfrm>
            <a:off x="3266250" y="1667875"/>
            <a:ext cx="2279350" cy="217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7"/>
          <p:cNvPicPr preferRelativeResize="0"/>
          <p:nvPr/>
        </p:nvPicPr>
        <p:blipFill rotWithShape="1">
          <a:blip r:embed="rId5">
            <a:alphaModFix/>
          </a:blip>
          <a:srcRect b="10718" l="0" r="0" t="18440"/>
          <a:stretch/>
        </p:blipFill>
        <p:spPr>
          <a:xfrm>
            <a:off x="5613075" y="1667875"/>
            <a:ext cx="3120610" cy="22106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7"/>
          <p:cNvSpPr txBox="1"/>
          <p:nvPr/>
        </p:nvSpPr>
        <p:spPr>
          <a:xfrm>
            <a:off x="582250" y="4195400"/>
            <a:ext cx="424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500" y="1314150"/>
            <a:ext cx="3016201" cy="272637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48"/>
          <p:cNvSpPr txBox="1"/>
          <p:nvPr>
            <p:ph idx="1" type="body"/>
          </p:nvPr>
        </p:nvSpPr>
        <p:spPr>
          <a:xfrm>
            <a:off x="233500" y="4106725"/>
            <a:ext cx="8520600" cy="8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박스를 confidence 0.3 이상으로 그렸는데 정답과 0.5이상 겹치지 않은 3가지</a:t>
            </a:r>
            <a:endParaRPr/>
          </a:p>
        </p:txBody>
      </p:sp>
      <p:pic>
        <p:nvPicPr>
          <p:cNvPr id="322" name="Google Shape;322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1550" y="1314150"/>
            <a:ext cx="3083820" cy="272637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FP 위치 부정확 3개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</a:t>
            </a:r>
            <a:endParaRPr/>
          </a:p>
        </p:txBody>
      </p:sp>
      <p:pic>
        <p:nvPicPr>
          <p:cNvPr id="324" name="Google Shape;324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7225" y="1314151"/>
            <a:ext cx="2582879" cy="2726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4-4. 평가 (1)</a:t>
            </a:r>
            <a:endParaRPr/>
          </a:p>
        </p:txBody>
      </p:sp>
      <p:sp>
        <p:nvSpPr>
          <p:cNvPr id="330" name="Google Shape;330;p49"/>
          <p:cNvSpPr txBox="1"/>
          <p:nvPr>
            <p:ph idx="1" type="body"/>
          </p:nvPr>
        </p:nvSpPr>
        <p:spPr>
          <a:xfrm>
            <a:off x="311700" y="4150925"/>
            <a:ext cx="85206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occlusion : </a:t>
            </a:r>
            <a:r>
              <a:rPr lang="ko"/>
              <a:t>영역을 가렸을때 confidence score 차이가 큰 부분이 밝은 부분</a:t>
            </a:r>
            <a:br>
              <a:rPr lang="ko"/>
            </a:br>
            <a:r>
              <a:rPr lang="ko"/>
              <a:t>주황색 : 정답, 분석 대상</a:t>
            </a:r>
            <a:r>
              <a:rPr lang="ko"/>
              <a:t> </a:t>
            </a:r>
            <a:endParaRPr/>
          </a:p>
        </p:txBody>
      </p:sp>
      <p:pic>
        <p:nvPicPr>
          <p:cNvPr id="331" name="Google Shape;33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850" y="984412"/>
            <a:ext cx="8832299" cy="3059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4-4. 평가 (2) </a:t>
            </a:r>
            <a:endParaRPr/>
          </a:p>
        </p:txBody>
      </p:sp>
      <p:sp>
        <p:nvSpPr>
          <p:cNvPr id="337" name="Google Shape;337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8" name="Google Shape;33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938" y="1010963"/>
            <a:ext cx="8916127" cy="3121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50"/>
          <p:cNvPicPr preferRelativeResize="0"/>
          <p:nvPr/>
        </p:nvPicPr>
        <p:blipFill rotWithShape="1">
          <a:blip r:embed="rId4">
            <a:alphaModFix/>
          </a:blip>
          <a:srcRect b="27746" l="20856" r="23558" t="37008"/>
          <a:stretch/>
        </p:blipFill>
        <p:spPr>
          <a:xfrm>
            <a:off x="6425800" y="3384825"/>
            <a:ext cx="2638075" cy="167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4-4. 평가 (3)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51"/>
          <p:cNvSpPr txBox="1"/>
          <p:nvPr>
            <p:ph idx="1" type="body"/>
          </p:nvPr>
        </p:nvSpPr>
        <p:spPr>
          <a:xfrm>
            <a:off x="311700" y="4066300"/>
            <a:ext cx="8520600" cy="9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6" name="Google Shape;34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50" y="1017737"/>
            <a:ext cx="8866901" cy="304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4-4. 평가 (4)</a:t>
            </a:r>
            <a:endParaRPr/>
          </a:p>
        </p:txBody>
      </p:sp>
      <p:sp>
        <p:nvSpPr>
          <p:cNvPr id="352" name="Google Shape;352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3" name="Google Shape;35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95922"/>
            <a:ext cx="8520599" cy="2929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ko"/>
              <a:t>4-4. 평가 (5)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9" name="Google Shape;35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3057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Objectives</a:t>
            </a:r>
            <a:endParaRPr/>
          </a:p>
        </p:txBody>
      </p:sp>
      <p:sp>
        <p:nvSpPr>
          <p:cNvPr id="365" name="Google Shape;365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ko"/>
              <a:t>Open-set dental implant identification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Recognize implant systems absent from training — from a few enrolled images, or a spec sheet alone.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55" title="implant_id_block_diagram_with_stage_thumbnail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1825" y="113663"/>
            <a:ext cx="4695324" cy="4916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56" title="four_track_ablation_ladder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4523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Venues</a:t>
            </a:r>
            <a:endParaRPr/>
          </a:p>
        </p:txBody>
      </p:sp>
      <p:sp>
        <p:nvSpPr>
          <p:cNvPr id="381" name="Google Shape;381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Scientific Reports — fastest, anchor paper's home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MICCAI / MIDL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Medical Image Analysis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IEEE JBHI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arXiv preprint at submission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