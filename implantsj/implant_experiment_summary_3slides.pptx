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80ebe9fc1a4faf" /><Relationship Type="http://schemas.openxmlformats.org/officeDocument/2006/relationships/extended-properties" Target="/docProps/app.xml" Id="Refd2830b0e754d09" /><Relationship Type="http://schemas.openxmlformats.org/officeDocument/2006/relationships/officeDocument" Target="/ppt/presentation.xml" Id="R74e37913b56945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5c1890d8de4428"/>
  </p:sldMasterIdLst>
  <p:notesMasterIdLst>
    <p:notesMasterId xmlns:r="http://schemas.openxmlformats.org/officeDocument/2006/relationships" r:id="R5a7ec999dea24578"/>
  </p:notesMasterIdLst>
  <p:sldIdLst>
    <p:sldId xmlns:r="http://schemas.openxmlformats.org/officeDocument/2006/relationships" id="256" r:id="R927b976d598f428f"/>
    <p:sldId xmlns:r="http://schemas.openxmlformats.org/officeDocument/2006/relationships" id="257" r:id="R1f61c96b9f65400c"/>
    <p:sldId xmlns:r="http://schemas.openxmlformats.org/officeDocument/2006/relationships" id="258" r:id="R57631a59177a40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d79bfa5bb7478a" /><Relationship Type="http://schemas.openxmlformats.org/officeDocument/2006/relationships/slideMaster" Target="/ppt/slideMasters/slideMaster1.xml" Id="R245c1890d8de4428" /><Relationship Type="http://schemas.openxmlformats.org/officeDocument/2006/relationships/notesMaster" Target="/ppt/notesMasters/notesMaster1.xml" Id="R5a7ec999dea24578" /><Relationship Type="http://schemas.openxmlformats.org/officeDocument/2006/relationships/presProps" Target="/ppt/presProps.xml" Id="Rc816eff3ec224b17" /><Relationship Type="http://schemas.openxmlformats.org/officeDocument/2006/relationships/tableStyles" Target="/ppt/tableStyles.xml" Id="Rb827a1573e4c4780" /><Relationship Type="http://schemas.openxmlformats.org/officeDocument/2006/relationships/slide" Target="/ppt/slides/slide1.xml" Id="R927b976d598f428f" /><Relationship Type="http://schemas.openxmlformats.org/officeDocument/2006/relationships/slide" Target="/ppt/slides/slide2.xml" Id="R1f61c96b9f65400c" /><Relationship Type="http://schemas.openxmlformats.org/officeDocument/2006/relationships/slide" Target="/ppt/slides/slide3.xml" Id="R57631a59177a40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3c6eeca52f44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c73be9ba604110" /><Relationship Type="http://schemas.openxmlformats.org/officeDocument/2006/relationships/notesMaster" Target="/ppt/notesMasters/notesMaster1.xml" Id="Rd6cbadbf638f4b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cedfb8cac244ab" /><Relationship Type="http://schemas.openxmlformats.org/officeDocument/2006/relationships/notesMaster" Target="/ppt/notesMasters/notesMaster1.xml" Id="R3f680e8bb8c946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bb6a8cb18b428c" /><Relationship Type="http://schemas.openxmlformats.org/officeDocument/2006/relationships/notesMaster" Target="/ppt/notesMasters/notesMaster1.xml" Id="R468731ee72e842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docs/analysis/EXPERIMENT_SUMMARY.md — 3/7/10-label supervised, SupCon, two-stage, and fine-tune results.</a:t>
            </a:r>
          </a:p>
          <a:p xmlns:a="http://schemas.openxmlformats.org/drawingml/2006/main">
            <a:r>
              <a:t>docs/reports/METRIC_DIAGNOSIS_FINAL_REPORT.md — 27-label GT-prototype diagnosis and ClosedFT results.</a:t>
            </a:r>
          </a:p>
          <a:p xmlns:a="http://schemas.openxmlformats.org/drawingml/2006/main">
            <a:r>
              <a:t>docs/reports/full_uncropped_7to3_metric/report/REPORT.md — uncropped 7→3 metric transfer results.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docs/analysis/EXPERIMENT_SUMMARY.md — direct classifier, SupCon, two-stage, and legacy transfer metrics.</a:t>
            </a:r>
          </a:p>
          <a:p xmlns:a="http://schemas.openxmlformats.org/drawingml/2006/main">
            <a:r>
              <a:t>docs/reports/METRIC_DIAGNOSIS_FINAL_REPORT.md — 27-label ClosedFT and GT27 metric diagnosis.</a:t>
            </a:r>
          </a:p>
          <a:p xmlns:a="http://schemas.openxmlformats.org/drawingml/2006/main">
            <a:r>
              <a:t>docs/reports/full_uncropped_7to3_metric/report/REPORT.md — 36/36 uncropped 7→3 metric transfer grid.</a:t>
            </a:r>
          </a:p>
          <a:p xmlns:a="http://schemas.openxmlformats.org/drawingml/2006/main">
            <a:r>
              <a:t>docs/analysis/PROJECT_ANALYSIS.md — VLM feature-only accuracy range and overall interpretation.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docs/analysis/EXPERIMENT_SUMMARY.md — recommended baseline and two-stage/fine-tune conclusions.</a:t>
            </a:r>
          </a:p>
          <a:p xmlns:a="http://schemas.openxmlformats.org/drawingml/2006/main">
            <a:r>
              <a:t>docs/reports/full_uncropped_7to3_metric/report/REPORT.md — ROI size, prototype, class imbalance, and next-step recommendations.</a:t>
            </a:r>
          </a:p>
          <a:p xmlns:a="http://schemas.openxmlformats.org/drawingml/2006/main">
            <a:r>
              <a:t>docs/analysis/PROJECT_ANALYSIS.md — VLM feature-only interpretation and practical usage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f2713839143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705e1375614a14" /><Relationship Type="http://schemas.openxmlformats.org/officeDocument/2006/relationships/slideLayout" Target="/ppt/slideLayouts/slideLayout1.xml" Id="Re1611193f3f9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611193f3f9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afb13073d43e8" /><Relationship Type="http://schemas.openxmlformats.org/officeDocument/2006/relationships/notesSlide" Target="/ppt/notesSlides/notesSlide1.xml" Id="R242b31c54b0d43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b11b2e7194289" /><Relationship Type="http://schemas.openxmlformats.org/officeDocument/2006/relationships/notesSlide" Target="/ppt/notesSlides/notesSlide2.xml" Id="R73d9898ffa974b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19b8122814c93" /><Relationship Type="http://schemas.openxmlformats.org/officeDocument/2006/relationships/notesSlide" Target="/ppt/notesSlides/notesSlide3.xml" Id="R5d5b22db5ed640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">
            <a:extLst xmlns:a="http://schemas.openxmlformats.org/drawingml/2006/main">
              <a:ext uri="{FF2B5EF4-FFF2-40B4-BE49-F238E27FC236}">
                <a16:creationId xmlns:a16="http://schemas.microsoft.com/office/drawing/2014/main" id="{764DCA3E-DED1-43C0-B8B9-95F3D985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TRIA LAB  /  IMPLANT CLASSIFICATION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A3D76433-3175-4562-809B-0839D60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분류 성능과 일반화는 달랐다</a:t>
            </a:r>
          </a:p>
        </p:txBody>
      </p:sp>
      <p:sp>
        <p:nvSpPr>
          <p:cNvPr id="3" name="title-rule-1">
            <a:extLst xmlns:a="http://schemas.openxmlformats.org/drawingml/2006/main">
              <a:ext uri="{FF2B5EF4-FFF2-40B4-BE49-F238E27FC236}">
                <a16:creationId xmlns:a16="http://schemas.microsoft.com/office/drawing/2014/main" id="{F32FD01A-1AB3-4DC3-8DB7-A91E7D93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01F4A682-B133-4FFB-9446-78D5C832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치과 임플란트 ROI 이미지 실험 요약  ·  2026.05–07 저장 결과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DDBDB34-BDF9-4B76-BD47-7D577CC6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직접 분류는 ViT image-only가 가장 안정적이었다.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하지만 source label에서 unseen target으로 옮기는 metric transfer에서는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fine-tuning보다 학습하지 않은 Base가 더 잘 전이됐다.</a:t>
            </a:r>
          </a:p>
        </p:txBody>
      </p:sp>
      <p:sp>
        <p:nvSpPr>
          <p:cNvPr id="6" name="stat-panel-1">
            <a:extLst xmlns:a="http://schemas.openxmlformats.org/drawingml/2006/main">
              <a:ext uri="{FF2B5EF4-FFF2-40B4-BE49-F238E27FC236}">
                <a16:creationId xmlns:a16="http://schemas.microsoft.com/office/drawing/2014/main" id="{F425D597-40AD-44D8-B459-104A172A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5623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E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1C3ADEC6-58D8-479A-94A1-473F959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95.54%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4507221-9651-442B-89FF-551C905F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10-label plain ViT</a:t>
            </a:r>
          </a:p>
        </p:txBody>
      </p:sp>
      <p:sp>
        <p:nvSpPr>
          <p:cNvPr id="9" name="stat-body-1">
            <a:extLst xmlns:a="http://schemas.openxmlformats.org/drawingml/2006/main">
              <a:ext uri="{FF2B5EF4-FFF2-40B4-BE49-F238E27FC236}">
                <a16:creationId xmlns:a16="http://schemas.microsoft.com/office/drawing/2014/main" id="{B9B39477-3209-4FC8-9D4F-4C75D700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직접 분류 test accuracy 최고</a:t>
            </a:r>
          </a:p>
        </p:txBody>
      </p:sp>
      <p:sp>
        <p:nvSpPr>
          <p:cNvPr id="10" name="stat-panel-2">
            <a:extLst xmlns:a="http://schemas.openxmlformats.org/drawingml/2006/main">
              <a:ext uri="{FF2B5EF4-FFF2-40B4-BE49-F238E27FC236}">
                <a16:creationId xmlns:a16="http://schemas.microsoft.com/office/drawing/2014/main" id="{ACFF2693-47A9-4B68-BAF8-1E0F3075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5623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E5B04963-AFCE-438F-A760-9A428F10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92.67%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9752D60-F7F9-4EC2-8C06-90ADFEE5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27-label ClosedFT</a:t>
            </a:r>
          </a:p>
        </p:txBody>
      </p:sp>
      <p:sp>
        <p:nvSpPr>
          <p:cNvPr id="13" name="stat-body-2">
            <a:extLst xmlns:a="http://schemas.openxmlformats.org/drawingml/2006/main">
              <a:ext uri="{FF2B5EF4-FFF2-40B4-BE49-F238E27FC236}">
                <a16:creationId xmlns:a16="http://schemas.microsoft.com/office/drawing/2014/main" id="{023F436B-D574-4075-ADFC-B53AE5C9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최신 closed-set test macro-F1</a:t>
            </a:r>
          </a:p>
        </p:txBody>
      </p:sp>
      <p:sp>
        <p:nvSpPr>
          <p:cNvPr id="14" name="stat-panel-3">
            <a:extLst xmlns:a="http://schemas.openxmlformats.org/drawingml/2006/main">
              <a:ext uri="{FF2B5EF4-FFF2-40B4-BE49-F238E27FC236}">
                <a16:creationId xmlns:a16="http://schemas.microsoft.com/office/drawing/2014/main" id="{F9B88889-EE9F-4CD4-B14F-803F69E2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23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tat-value-3">
            <a:extLst xmlns:a="http://schemas.openxmlformats.org/drawingml/2006/main">
              <a:ext uri="{FF2B5EF4-FFF2-40B4-BE49-F238E27FC236}">
                <a16:creationId xmlns:a16="http://schemas.microsoft.com/office/drawing/2014/main" id="{44C8B15F-1078-4060-B4A9-BB60157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900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82.76%</a:t>
            </a:r>
          </a:p>
        </p:txBody>
      </p:sp>
      <p:sp>
        <p:nvSpPr>
          <p:cNvPr id="16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30410177-164E-4D8C-9EF0-22DAA05E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uncropped 7→3 Base</a:t>
            </a:r>
          </a:p>
        </p:txBody>
      </p:sp>
      <p:sp>
        <p:nvSpPr>
          <p:cNvPr id="17" name="stat-body-3">
            <a:extLst xmlns:a="http://schemas.openxmlformats.org/drawingml/2006/main">
              <a:ext uri="{FF2B5EF4-FFF2-40B4-BE49-F238E27FC236}">
                <a16:creationId xmlns:a16="http://schemas.microsoft.com/office/drawing/2014/main" id="{F339115B-59F1-44BC-BE3B-2881C240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metric transfer 관측 최고 accuracy</a:t>
            </a:r>
          </a:p>
        </p:txBody>
      </p:sp>
      <p:sp>
        <p:nvSpPr>
          <p:cNvPr id="18" name="scope-1">
            <a:extLst xmlns:a="http://schemas.openxmlformats.org/drawingml/2006/main">
              <a:ext uri="{FF2B5EF4-FFF2-40B4-BE49-F238E27FC236}">
                <a16:creationId xmlns:a16="http://schemas.microsoft.com/office/drawing/2014/main" id="{2B43E8A1-7A0C-4D72-98D5-BDC7BE5C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실험 범위  3/7/10-label supervised  ·  SupCon/Triplet  ·  two-stage  ·  VLM feature  ·  7→3 transfer  ·  27 closed + 15 open diagnosis</a:t>
            </a:r>
          </a:p>
        </p:txBody>
      </p:sp>
      <p:sp>
        <p:nvSpPr>
          <p:cNvPr id="19" name="page-1">
            <a:extLst xmlns:a="http://schemas.openxmlformats.org/drawingml/2006/main">
              <a:ext uri="{FF2B5EF4-FFF2-40B4-BE49-F238E27FC236}">
                <a16:creationId xmlns:a16="http://schemas.microsoft.com/office/drawing/2014/main" id="{26A11A00-0363-4CC5-87F9-9B12D244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02819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2">
            <a:extLst xmlns:a="http://schemas.openxmlformats.org/drawingml/2006/main">
              <a:ext uri="{FF2B5EF4-FFF2-40B4-BE49-F238E27FC236}">
                <a16:creationId xmlns:a16="http://schemas.microsoft.com/office/drawing/2014/main" id="{582DB181-63D4-4EE4-AAD5-F6226CF3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  /  TEST RESULTS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9B5E9AD-8677-4613-B8B2-9BB3DA57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높은 정확도는 direct classification에서만 재현됐다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3B68575B-CD6B-4904-836A-828BF01C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50B9B89-EF50-43B0-BFC6-5A97E30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표기는 Test Accuracy / Macro-F1 순서. 서로 다른 split·protocol은 절대값보다 실험 축의 방향성으로 해석했다.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401425" cy="3962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4286250"/>
                <a:gridCol w="4543425"/>
              </a:tblGrid>
              <a:tr h="3619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실험 축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대표 결과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읽는 법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classifier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plain ViT (3/7/10)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3L 94.50/77.00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7L 94.40/88.29 · 10L 95.54/88.12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직접 분류의 안정적 기준선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Latest direct classifier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27-label ClosedFT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95.43 / 92.67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최신 closed-set 결과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SupCon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7-label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95.87 / 75.12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Acc.는 높지만 minority F1이 낮음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Two-stage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10-label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95.09 / 87.86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baseline 95.54%보다 개선 없음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Fine-tune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→ 3 label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91.74 / 71.73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 gain이 test로 유지되지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transfer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→ 3 (legacy)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37.61/34.75 → 68.81/54.92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two-stage는 개선하지만 dedicated 3-label보다 낮음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transfer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→ 3 (uncropped)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 82.76/64.16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 72.41/50.14 · Tri 68.10/55.48 · Sup 53.45/39.88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학습하지 않은 Base가 fine-tuned 표현보다 높음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diagnosis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42-label GT27 (cosine)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 51.92/52.80 &gt; Full 50.00/50.59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&gt; Closed 44.23/42.46 &gt; Sup 40.38/43.08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fine-tuning이 generic metric 표현을 약화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VLM structural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feature-only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32–45% Acc.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vs image-only 94%+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최종 classifier 대체 불가; 보조/ablation 용도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CE5DDD8B-218F-4465-B49C-F3387B0D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7110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3">
            <a:extLst xmlns:a="http://schemas.openxmlformats.org/drawingml/2006/main">
              <a:ext uri="{FF2B5EF4-FFF2-40B4-BE49-F238E27FC236}">
                <a16:creationId xmlns:a16="http://schemas.microsoft.com/office/drawing/2014/main" id="{7F356B49-5734-48E1-80C2-4B281054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 /  WHAT TO KEEP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9C538C3-9268-4E0F-8302-E6C7BE29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baseline은 ViT, 병목은 representation과 ROI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F46CA751-8638-473F-B558-624482F2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ision-box-1">
            <a:extLst xmlns:a="http://schemas.openxmlformats.org/drawingml/2006/main">
              <a:ext uri="{FF2B5EF4-FFF2-40B4-BE49-F238E27FC236}">
                <a16:creationId xmlns:a16="http://schemas.microsoft.com/office/drawing/2014/main" id="{B9D38F95-DE40-451D-B9F0-7C14DD7E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E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decision-title-1">
            <a:extLst xmlns:a="http://schemas.openxmlformats.org/drawingml/2006/main">
              <a:ext uri="{FF2B5EF4-FFF2-40B4-BE49-F238E27FC236}">
                <a16:creationId xmlns:a16="http://schemas.microsoft.com/office/drawing/2014/main" id="{5133DCA5-458F-4D07-8AFE-0F7B6AF6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  유지할 것</a:t>
            </a:r>
          </a:p>
        </p:txBody>
      </p:sp>
      <p:sp>
        <p:nvSpPr>
          <p:cNvPr id="6" name="decision-body-1">
            <a:extLst xmlns:a="http://schemas.openxmlformats.org/drawingml/2006/main">
              <a:ext uri="{FF2B5EF4-FFF2-40B4-BE49-F238E27FC236}">
                <a16:creationId xmlns:a16="http://schemas.microsoft.com/office/drawing/2014/main" id="{0F6411FF-0659-48E0-A2B4-E6BF77A9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10-label plain ViT를 실용 baseline으로 유지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3-label 작업은 dedicated plain ViT 사용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→ direct classification에서 가장 안정적</a:t>
            </a:r>
          </a:p>
        </p:txBody>
      </p:sp>
      <p:sp>
        <p:nvSpPr>
          <p:cNvPr id="7" name="decision-box-2">
            <a:extLst xmlns:a="http://schemas.openxmlformats.org/drawingml/2006/main">
              <a:ext uri="{FF2B5EF4-FFF2-40B4-BE49-F238E27FC236}">
                <a16:creationId xmlns:a16="http://schemas.microsoft.com/office/drawing/2014/main" id="{B37BFCAE-CA99-49E4-A27B-E2A63CE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5262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decision-title-2">
            <a:extLst xmlns:a="http://schemas.openxmlformats.org/drawingml/2006/main">
              <a:ext uri="{FF2B5EF4-FFF2-40B4-BE49-F238E27FC236}">
                <a16:creationId xmlns:a16="http://schemas.microsoft.com/office/drawing/2014/main" id="{B7AE2224-F315-4683-BA75-1C62796F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  Metric learning</a:t>
            </a:r>
          </a:p>
        </p:txBody>
      </p:sp>
      <p:sp>
        <p:nvSpPr>
          <p:cNvPr id="9" name="decision-body-2">
            <a:extLst xmlns:a="http://schemas.openxmlformats.org/drawingml/2006/main">
              <a:ext uri="{FF2B5EF4-FFF2-40B4-BE49-F238E27FC236}">
                <a16:creationId xmlns:a16="http://schemas.microsoft.com/office/drawing/2014/main" id="{681E5584-FBD3-48EF-8B6D-1333C841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SupCon/Triplet은 source 내부 분리는 가능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하지만 unseen 3-label transfer는 Base보다 낮음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→ 분석용 embedding으로 활용</a:t>
            </a:r>
          </a:p>
        </p:txBody>
      </p:sp>
      <p:sp>
        <p:nvSpPr>
          <p:cNvPr id="10" name="decision-box-3">
            <a:extLst xmlns:a="http://schemas.openxmlformats.org/drawingml/2006/main">
              <a:ext uri="{FF2B5EF4-FFF2-40B4-BE49-F238E27FC236}">
                <a16:creationId xmlns:a16="http://schemas.microsoft.com/office/drawing/2014/main" id="{8EB70F52-C1C4-4F70-A053-F87DC424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decision-title-3">
            <a:extLst xmlns:a="http://schemas.openxmlformats.org/drawingml/2006/main">
              <a:ext uri="{FF2B5EF4-FFF2-40B4-BE49-F238E27FC236}">
                <a16:creationId xmlns:a16="http://schemas.microsoft.com/office/drawing/2014/main" id="{3E7827DD-3EFF-4804-A7C0-03ACD0B6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  보정 실험</a:t>
            </a:r>
          </a:p>
        </p:txBody>
      </p:sp>
      <p:sp>
        <p:nvSpPr>
          <p:cNvPr id="12" name="decision-body-3">
            <a:extLst xmlns:a="http://schemas.openxmlformats.org/drawingml/2006/main">
              <a:ext uri="{FF2B5EF4-FFF2-40B4-BE49-F238E27FC236}">
                <a16:creationId xmlns:a16="http://schemas.microsoft.com/office/drawing/2014/main" id="{FC62F834-C678-4813-A165-86C8492A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two-stage: 95.54 → 95.09%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10→3 fine-tune: test 91.74%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→ 기본 파이프라인으로 채택하지 않음</a:t>
            </a:r>
          </a:p>
        </p:txBody>
      </p:sp>
      <p:sp>
        <p:nvSpPr>
          <p:cNvPr id="13" name="decision-box-4">
            <a:extLst xmlns:a="http://schemas.openxmlformats.org/drawingml/2006/main">
              <a:ext uri="{FF2B5EF4-FFF2-40B4-BE49-F238E27FC236}">
                <a16:creationId xmlns:a16="http://schemas.microsoft.com/office/drawing/2014/main" id="{E208386F-5D48-44F6-BFBD-0C330E20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decision-title-4">
            <a:extLst xmlns:a="http://schemas.openxmlformats.org/drawingml/2006/main">
              <a:ext uri="{FF2B5EF4-FFF2-40B4-BE49-F238E27FC236}">
                <a16:creationId xmlns:a16="http://schemas.microsoft.com/office/drawing/2014/main" id="{99F4CCBB-7EA6-4B4F-A89D-EF578F2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71950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  다음 우선순위</a:t>
            </a:r>
          </a:p>
        </p:txBody>
      </p:sp>
      <p:sp>
        <p:nvSpPr>
          <p:cNvPr id="15" name="decision-body-4">
            <a:extLst xmlns:a="http://schemas.openxmlformats.org/drawingml/2006/main">
              <a:ext uri="{FF2B5EF4-FFF2-40B4-BE49-F238E27FC236}">
                <a16:creationId xmlns:a16="http://schemas.microsoft.com/office/drawing/2014/main" id="{F7F2E740-0C5F-49ED-A8B5-CFE6E752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72000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VLM feature-only는 32–45%로 대체 불가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ROI crop · 384/512 multi-crop · group-balanced prototype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macro-F1 중심 평가 · 최소 3 seeds</a:t>
            </a:r>
          </a:p>
        </p:txBody>
      </p:sp>
      <p:sp>
        <p:nvSpPr>
          <p:cNvPr id="16" name="bottom-rule-3">
            <a:extLst xmlns:a="http://schemas.openxmlformats.org/drawingml/2006/main">
              <a:ext uri="{FF2B5EF4-FFF2-40B4-BE49-F238E27FC236}">
                <a16:creationId xmlns:a16="http://schemas.microsoft.com/office/drawing/2014/main" id="{35AAC484-C91D-4EF0-810E-2E3D9208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bottom-line-3">
            <a:extLst xmlns:a="http://schemas.openxmlformats.org/drawingml/2006/main">
              <a:ext uri="{FF2B5EF4-FFF2-40B4-BE49-F238E27FC236}">
                <a16:creationId xmlns:a16="http://schemas.microsoft.com/office/drawing/2014/main" id="{70E93569-F26C-4ED8-B56E-8AE682A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한 줄 결론  분류는 충분히 강하다. 일반화 실패의 핵심은 source–target 목적 불일치, 작은 uncropped ROI, 불대표적인 prototype이다.</a:t>
            </a:r>
          </a:p>
        </p:txBody>
      </p:sp>
      <p:sp>
        <p:nvSpPr>
          <p:cNvPr id="18" name="page-3">
            <a:extLst xmlns:a="http://schemas.openxmlformats.org/drawingml/2006/main">
              <a:ext uri="{FF2B5EF4-FFF2-40B4-BE49-F238E27FC236}">
                <a16:creationId xmlns:a16="http://schemas.microsoft.com/office/drawing/2014/main" id="{D8C0D56A-C0AD-48E8-A7EF-45740221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4831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2026-08-05T03:09:56.9820000Z</dcterms:created>
  <dcterms:modified xsi:type="dcterms:W3CDTF">2026-08-05T03:09:56.9820000Z</dcterms:modified>
</coreProperties>
</file>